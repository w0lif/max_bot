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71" r:id="rId4"/>
    <p:sldId id="258" r:id="rId5"/>
    <p:sldId id="259" r:id="rId6"/>
    <p:sldId id="260" r:id="rId7"/>
    <p:sldId id="261" r:id="rId8"/>
    <p:sldId id="262" r:id="rId9"/>
    <p:sldId id="270" r:id="rId10"/>
    <p:sldId id="263" r:id="rId11"/>
    <p:sldId id="264" r:id="rId12"/>
    <p:sldId id="265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50"/>
    <a:srgbClr val="426CC2"/>
    <a:srgbClr val="E9F3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60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B9600E-7B0E-4D29-9AB0-A1F5EEE4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5B635-9270-417F-827D-8D92C1338443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631DAC-C254-44A2-9F7B-57EDBC39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4AFE1B-91A3-45F1-8091-42B02593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6760-1389-4FE7-AE38-C86105AB7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32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x.ru/t165_hakaton_max_b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ax-bot-sable.vercel.app/api" TargetMode="External"/><Relationship Id="rId4" Type="http://schemas.openxmlformats.org/officeDocument/2006/relationships/hyperlink" Target="https://github.com/W0LIF/max_bo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CF647694-4272-4ED4-8E7E-087791202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544141"/>
            <a:ext cx="16674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MAX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</a:br>
            <a:r>
              <a:rPr lang="ru-RU" alt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hlinkClick r:id="rId3"/>
              </a:rPr>
              <a:t>@t165_hakaton_max_bot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A1650"/>
              </a:solidFill>
              <a:effectLst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AA2D96-997F-4267-B7C9-0735EDCD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1271417"/>
            <a:ext cx="25122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A1650"/>
                </a:solidFill>
                <a:effectLst/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GitHub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</a:br>
            <a:r>
              <a:rPr lang="ru-RU" alt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hlinkClick r:id="rId4"/>
              </a:rPr>
              <a:t>github.com/W0LIF/</a:t>
            </a:r>
            <a:r>
              <a:rPr lang="ru-RU" altLang="ru-RU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hlinkClick r:id="rId4"/>
              </a:rPr>
              <a:t>max_bot</a:t>
            </a:r>
            <a:r>
              <a:rPr lang="en-US" alt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HEAD 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31324f5</a:t>
            </a:r>
            <a:r>
              <a:rPr 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*</a:t>
            </a: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rgbClr val="0A1650"/>
              </a:solidFill>
              <a:effectLst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EE6A7D5-1B8B-4630-A76B-E7EC7BAF6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78" y="1947817"/>
            <a:ext cx="21146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API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</a:br>
            <a:r>
              <a:rPr lang="ru-RU" alt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  <a:hlinkClick r:id="rId5"/>
              </a:rPr>
              <a:t>https://max-bot-sable.vercel.app/api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A1650"/>
              </a:solidFill>
              <a:effectLst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84BEDB6-5059-4A07-91E5-B711C1888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3833138"/>
            <a:ext cx="228940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Environment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</a:br>
            <a:r>
              <a:rPr lang="ru-RU" alt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WEBAPP_URL=</a:t>
            </a:r>
            <a:r>
              <a:rPr lang="ru-RU" altLang="ru-RU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max-bot-sable.vercel.app</a:t>
            </a:r>
            <a:b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rgbClr val="0A1650"/>
                </a:solidFill>
                <a:effectLst/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</a:br>
            <a:r>
              <a:rPr lang="ru-RU" alt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Секреты хранятся в </a:t>
            </a:r>
            <a:r>
              <a:rPr lang="ru-RU" altLang="ru-RU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Vercel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A1650"/>
              </a:solidFill>
              <a:effectLst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BEADD-D744-437A-A293-D0787881F357}"/>
              </a:ext>
            </a:extLst>
          </p:cNvPr>
          <p:cNvSpPr txBox="1"/>
          <p:nvPr/>
        </p:nvSpPr>
        <p:spPr>
          <a:xfrm>
            <a:off x="4051179" y="2132261"/>
            <a:ext cx="470564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0A1650"/>
                </a:solidFill>
                <a:latin typeface="Inter Black"/>
              </a:rPr>
              <a:t>Основной сценарий</a:t>
            </a:r>
            <a:endParaRPr lang="ru-RU" sz="1400" dirty="0">
              <a:solidFill>
                <a:srgbClr val="0A1650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r>
              <a:rPr lang="ru-RU" sz="1200" b="1" dirty="0">
                <a:solidFill>
                  <a:srgbClr val="0A1650"/>
                </a:solidFill>
                <a:latin typeface="Inter Black"/>
              </a:rPr>
              <a:t>1. Открыть бота в MAX, принять политику и выбрать напоминания.</a:t>
            </a:r>
          </a:p>
          <a:p>
            <a:r>
              <a:rPr lang="ru-RU" sz="1200" b="1" dirty="0">
                <a:solidFill>
                  <a:srgbClr val="0A1650"/>
                </a:solidFill>
                <a:latin typeface="Inter Black"/>
              </a:rPr>
              <a:t>2. Открыть мини-приложение кнопкой из меню бота.</a:t>
            </a:r>
          </a:p>
          <a:p>
            <a:r>
              <a:rPr lang="ru-RU" sz="1200" b="1" dirty="0">
                <a:solidFill>
                  <a:srgbClr val="0A1650"/>
                </a:solidFill>
                <a:latin typeface="Inter Black"/>
              </a:rPr>
              <a:t>3. Создать задачу вручную или загрузить фото и проверить OCR-черновик.</a:t>
            </a:r>
          </a:p>
          <a:p>
            <a:r>
              <a:rPr lang="ru-RU" sz="1200" b="1" dirty="0">
                <a:solidFill>
                  <a:srgbClr val="0A1650"/>
                </a:solidFill>
                <a:latin typeface="Inter Black"/>
              </a:rPr>
              <a:t>4. Выбрать квадрант Эйзенхауэра и сохранить задачу.</a:t>
            </a:r>
          </a:p>
          <a:p>
            <a:r>
              <a:rPr lang="ru-RU" sz="1200" b="1" dirty="0">
                <a:solidFill>
                  <a:srgbClr val="0A1650"/>
                </a:solidFill>
                <a:latin typeface="Inter Black"/>
              </a:rPr>
              <a:t>5. Выполнить задачу и отметить настроение.</a:t>
            </a:r>
          </a:p>
          <a:p>
            <a:r>
              <a:rPr lang="ru-RU" sz="1200" b="1" dirty="0">
                <a:solidFill>
                  <a:srgbClr val="0A1650"/>
                </a:solidFill>
                <a:latin typeface="Inter Black"/>
              </a:rPr>
              <a:t>6. Смотреть недельный баланс и получать напоминания о сроках.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C2D2B7-31C7-4A25-BBBE-D6F0A95A9B62}"/>
              </a:ext>
            </a:extLst>
          </p:cNvPr>
          <p:cNvSpPr txBox="1"/>
          <p:nvPr/>
        </p:nvSpPr>
        <p:spPr>
          <a:xfrm>
            <a:off x="283844" y="324467"/>
            <a:ext cx="527726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ТЕЛЕСК</a:t>
            </a:r>
            <a:r>
              <a:rPr lang="en-US" sz="66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  </a:t>
            </a:r>
            <a:r>
              <a:rPr lang="ru-RU" sz="6600" dirty="0"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AB4E3-2139-4A76-B000-708A5A8612D9}"/>
              </a:ext>
            </a:extLst>
          </p:cNvPr>
          <p:cNvSpPr txBox="1"/>
          <p:nvPr/>
        </p:nvSpPr>
        <p:spPr>
          <a:xfrm>
            <a:off x="283844" y="1877704"/>
            <a:ext cx="527726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50" b="1" dirty="0" err="1">
                <a:solidFill>
                  <a:srgbClr val="1E1F2B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Трекер</a:t>
            </a:r>
            <a:r>
              <a:rPr lang="ru-RU" sz="1350" b="1" dirty="0">
                <a:solidFill>
                  <a:srgbClr val="1E1F2B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учебного баланса и профилактики выгорания</a:t>
            </a:r>
          </a:p>
          <a:p>
            <a:r>
              <a:rPr lang="ru-RU" sz="1350" b="1" dirty="0">
                <a:solidFill>
                  <a:srgbClr val="1E1F2B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Мини-приложение в MAX для студентов</a:t>
            </a:r>
            <a:endParaRPr lang="ru-RU" sz="1350" dirty="0">
              <a:solidFill>
                <a:srgbClr val="1E1F2B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98A3C-7AF0-4B13-B486-3DB264918F61}"/>
              </a:ext>
            </a:extLst>
          </p:cNvPr>
          <p:cNvSpPr txBox="1"/>
          <p:nvPr/>
        </p:nvSpPr>
        <p:spPr>
          <a:xfrm>
            <a:off x="283844" y="1244300"/>
            <a:ext cx="6755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Фокус</a:t>
            </a:r>
            <a:r>
              <a:rPr lang="ru-RU" sz="24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на учёбе. </a:t>
            </a:r>
            <a:r>
              <a:rPr lang="ru-RU" sz="2400" b="1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Фокус</a:t>
            </a:r>
            <a:r>
              <a:rPr lang="ru-RU" sz="24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на себе.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0580CF-1219-4D3B-9BDC-52ADD0656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94" y="653981"/>
            <a:ext cx="4223862" cy="419898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FE6A23B-5C0F-4F02-A14C-492094417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158" y="305418"/>
            <a:ext cx="1065317" cy="106531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A6F4E0F-0004-440A-BEC0-03C5302F84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643" b="79288"/>
          <a:stretch/>
        </p:blipFill>
        <p:spPr>
          <a:xfrm>
            <a:off x="4725520" y="-12912"/>
            <a:ext cx="672542" cy="81973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4F37DAA-A5D9-492F-90F2-1831AE37AE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57" b="78907"/>
          <a:stretch/>
        </p:blipFill>
        <p:spPr>
          <a:xfrm>
            <a:off x="4970714" y="487971"/>
            <a:ext cx="590393" cy="56150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4EE6EFF-0F21-44BD-BE90-1ABC34B0C2FA}"/>
              </a:ext>
            </a:extLst>
          </p:cNvPr>
          <p:cNvSpPr txBox="1"/>
          <p:nvPr/>
        </p:nvSpPr>
        <p:spPr>
          <a:xfrm>
            <a:off x="283843" y="3660142"/>
            <a:ext cx="223075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50" dirty="0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Команда</a:t>
            </a:r>
            <a:r>
              <a:rPr lang="en-US" sz="1350" dirty="0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ru-RU" sz="1350" dirty="0" err="1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КиберМыши</a:t>
            </a:r>
            <a:r>
              <a:rPr lang="en-US" sz="1350" dirty="0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:</a:t>
            </a:r>
            <a:endParaRPr lang="ru-RU" sz="1350" dirty="0">
              <a:solidFill>
                <a:srgbClr val="0B1956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6DC87B-E80C-49D4-94E7-B34597BA352F}"/>
              </a:ext>
            </a:extLst>
          </p:cNvPr>
          <p:cNvSpPr txBox="1"/>
          <p:nvPr/>
        </p:nvSpPr>
        <p:spPr>
          <a:xfrm>
            <a:off x="290803" y="3937836"/>
            <a:ext cx="3213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50" dirty="0" err="1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Запьянцев</a:t>
            </a:r>
            <a:r>
              <a:rPr lang="ru-RU" sz="135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Олег</a:t>
            </a:r>
          </a:p>
          <a:p>
            <a:r>
              <a:rPr lang="ru-RU" sz="135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Герасимова Анна</a:t>
            </a:r>
          </a:p>
          <a:p>
            <a:r>
              <a:rPr lang="ru-RU" sz="135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Вепрева Анастасия</a:t>
            </a:r>
          </a:p>
          <a:p>
            <a:r>
              <a:rPr lang="ru-RU" sz="135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Чванова Мария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82661E3-3C34-4B17-8F98-128AC8D5B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79" y="4106369"/>
            <a:ext cx="1191949" cy="1241301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3EADC12-5A45-416A-814F-4179E42F64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63" t="21804" r="2750" b="58051"/>
          <a:stretch/>
        </p:blipFill>
        <p:spPr>
          <a:xfrm>
            <a:off x="2329061" y="4187927"/>
            <a:ext cx="371079" cy="40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1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3E881D4-02D7-4DE2-AE0B-E0F34EEEF429}"/>
              </a:ext>
            </a:extLst>
          </p:cNvPr>
          <p:cNvSpPr txBox="1"/>
          <p:nvPr/>
        </p:nvSpPr>
        <p:spPr>
          <a:xfrm>
            <a:off x="365774" y="241749"/>
            <a:ext cx="37882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Почему Телескоп?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27951A-8956-4BBA-8010-CE8FA5DE30E5}"/>
              </a:ext>
            </a:extLst>
          </p:cNvPr>
          <p:cNvSpPr txBox="1"/>
          <p:nvPr/>
        </p:nvSpPr>
        <p:spPr>
          <a:xfrm>
            <a:off x="365774" y="7378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Помогает увидеть то, что сейчас кажется слишком далёким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184CBF-8850-4C68-A213-F309095D8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357" y="-156489"/>
            <a:ext cx="3240512" cy="56612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3A47A4-3277-4B55-BFA2-FF35555A1985}"/>
              </a:ext>
            </a:extLst>
          </p:cNvPr>
          <p:cNvSpPr txBox="1"/>
          <p:nvPr/>
        </p:nvSpPr>
        <p:spPr>
          <a:xfrm>
            <a:off x="4282454" y="3389939"/>
            <a:ext cx="1049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Фокус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7C6974-C935-4E67-88F4-3B7DC85B7886}"/>
              </a:ext>
            </a:extLst>
          </p:cNvPr>
          <p:cNvSpPr txBox="1"/>
          <p:nvPr/>
        </p:nvSpPr>
        <p:spPr>
          <a:xfrm>
            <a:off x="6911339" y="558032"/>
            <a:ext cx="864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Путь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E83A2B-4D63-4195-9B52-33597684C5D2}"/>
              </a:ext>
            </a:extLst>
          </p:cNvPr>
          <p:cNvSpPr txBox="1"/>
          <p:nvPr/>
        </p:nvSpPr>
        <p:spPr>
          <a:xfrm>
            <a:off x="6803400" y="2670810"/>
            <a:ext cx="176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Наблюдение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5DEE7C-F125-4458-9F1B-C98E6071DA2B}"/>
              </a:ext>
            </a:extLst>
          </p:cNvPr>
          <p:cNvSpPr txBox="1"/>
          <p:nvPr/>
        </p:nvSpPr>
        <p:spPr>
          <a:xfrm>
            <a:off x="4369006" y="1459805"/>
            <a:ext cx="83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Рост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666F20-461F-4AE1-ACE1-43105E5C635D}"/>
              </a:ext>
            </a:extLst>
          </p:cNvPr>
          <p:cNvSpPr txBox="1"/>
          <p:nvPr/>
        </p:nvSpPr>
        <p:spPr>
          <a:xfrm>
            <a:off x="3463827" y="3690104"/>
            <a:ext cx="1868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Сосредоточиться на том, что важно сейчас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419A9C-23BF-4C99-A01F-1E4D9171E69D}"/>
              </a:ext>
            </a:extLst>
          </p:cNvPr>
          <p:cNvSpPr txBox="1"/>
          <p:nvPr/>
        </p:nvSpPr>
        <p:spPr>
          <a:xfrm>
            <a:off x="7049066" y="860662"/>
            <a:ext cx="212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Учёба - это не одна большая цель, а множество этапов.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D6157-C3D7-4742-9397-924FA0B214EF}"/>
              </a:ext>
            </a:extLst>
          </p:cNvPr>
          <p:cNvSpPr txBox="1"/>
          <p:nvPr/>
        </p:nvSpPr>
        <p:spPr>
          <a:xfrm>
            <a:off x="6803400" y="2973440"/>
            <a:ext cx="21081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Важно следить не только за выполненными задачами, но и за собой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A697F0-A36E-40D6-8588-2FA185B21756}"/>
              </a:ext>
            </a:extLst>
          </p:cNvPr>
          <p:cNvSpPr txBox="1"/>
          <p:nvPr/>
        </p:nvSpPr>
        <p:spPr>
          <a:xfrm>
            <a:off x="3556992" y="1787122"/>
            <a:ext cx="2066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Постепенно двигаться вперёд и формировать устойчивые привычки</a:t>
            </a: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FA40997E-0935-452F-B60E-889BC7842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03628" y="1628580"/>
            <a:ext cx="3836393" cy="37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0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199" y="320040"/>
            <a:ext cx="80924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dirty="0">
                <a:solidFill>
                  <a:srgbClr val="0B1956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Как первокурснику пройти первую сессию, не утонув в дедлайнах?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Проблем</a:t>
            </a:r>
            <a:r>
              <a:rPr lang="ru-RU" sz="15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ы</a:t>
            </a:r>
          </a:p>
          <a:p>
            <a:r>
              <a:rPr lang="ru-RU" sz="1300" dirty="0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Множество задач</a:t>
            </a:r>
          </a:p>
          <a:p>
            <a:r>
              <a:rPr lang="ru-RU" sz="8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Расписание, лабораторные, самостоятельная работа, дедлайны.</a:t>
            </a:r>
          </a:p>
          <a:p>
            <a:r>
              <a:rPr lang="ru-RU" sz="1300" dirty="0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Прокрастинация</a:t>
            </a:r>
          </a:p>
          <a:p>
            <a:r>
              <a:rPr lang="ru-RU" sz="8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Задачи откладываются → нагрузка концентрируется перед дедлайном.</a:t>
            </a:r>
          </a:p>
          <a:p>
            <a:r>
              <a:rPr lang="ru-RU" sz="1300" dirty="0">
                <a:solidFill>
                  <a:srgbClr val="0B1956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Рост напряжения</a:t>
            </a:r>
          </a:p>
          <a:p>
            <a:r>
              <a:rPr lang="ru-RU" sz="8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Студент не всегда замечает, что нагрузка уже влияет на его состояние.</a:t>
            </a:r>
          </a:p>
          <a:p>
            <a:endParaRPr lang="ru-RU" sz="1300" dirty="0">
              <a:solidFill>
                <a:srgbClr val="0B1956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endParaRPr lang="ru-RU" sz="1300" dirty="0">
              <a:solidFill>
                <a:srgbClr val="0B1956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endParaRPr lang="ru-RU" sz="1600" dirty="0">
              <a:solidFill>
                <a:srgbClr val="0B1956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endParaRPr lang="en-US" sz="15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1887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26CC2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Решение</a:t>
            </a:r>
            <a:endParaRPr lang="en-US" sz="1500" dirty="0">
              <a:solidFill>
                <a:srgbClr val="426CC2"/>
              </a:solidFill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Мини-приложение в MAX: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добавление задачи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вручную или по фото (OCR), приоритизация по Эйзенхауэру, отметка состояния после каждой задачи.</a:t>
            </a:r>
            <a:endParaRPr lang="en-US" sz="15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260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Отличие</a:t>
            </a:r>
            <a:endParaRPr lang="en-US" sz="15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Не просто планировщик, а </a:t>
            </a:r>
            <a:r>
              <a:rPr lang="ru-RU" sz="1300" dirty="0" err="1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трекер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учебного баланса и профилактики выгорания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: индикатор благополучия и рекомендации.</a:t>
            </a:r>
            <a:endParaRPr lang="en-US" sz="15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9260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Эффект</a:t>
            </a:r>
            <a:endParaRPr lang="ru-RU" sz="1500" b="1" dirty="0">
              <a:solidFill>
                <a:srgbClr val="0A1650"/>
              </a:solidFill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Меньше пропущенных дедлайнов</a:t>
            </a:r>
          </a:p>
          <a:p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Более регулярное планирование</a:t>
            </a:r>
            <a:endParaRPr lang="ru-RU" sz="1300" b="1" dirty="0">
              <a:solidFill>
                <a:srgbClr val="0A1650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Предотвращение перегрузки</a:t>
            </a:r>
            <a:endParaRPr lang="ru-RU" sz="1300" b="1" dirty="0">
              <a:solidFill>
                <a:srgbClr val="0A1650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Больше контроля над учебным процессом</a:t>
            </a:r>
            <a:endParaRPr lang="ru-RU" sz="1300" b="1" dirty="0">
              <a:solidFill>
                <a:srgbClr val="0A1650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endParaRPr lang="en-US" sz="15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D1A0551-E3F2-46A1-B788-380890BACE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711" t="1778" r="22687" b="77481"/>
          <a:stretch/>
        </p:blipFill>
        <p:spPr>
          <a:xfrm>
            <a:off x="8376339" y="769620"/>
            <a:ext cx="620921" cy="7010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ECE0B2E-FF16-45DD-9CB9-BDD75427F8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07" t="50666" r="63389" b="31852"/>
          <a:stretch/>
        </p:blipFill>
        <p:spPr>
          <a:xfrm>
            <a:off x="177375" y="4130040"/>
            <a:ext cx="651090" cy="604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Аудитория, проблема и актуальность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Приоритет: первокурсники вузов (18–19 лет), пилот — Самарская область</a:t>
            </a:r>
            <a:endParaRPr lang="en-US" sz="13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A1650"/>
          </a:solidFill>
          <a:ln w="12700">
            <a:solidFill>
              <a:srgbClr val="0A16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75–85%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D5D3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студентов прокрастинируют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78608" y="12801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A1650"/>
          </a:solidFill>
          <a:ln w="12700">
            <a:solidFill>
              <a:srgbClr val="0A16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0048" y="13716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27,1%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D5D3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первокурсников в дистрессе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0016" y="12801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A1650"/>
          </a:solidFill>
          <a:ln w="12700">
            <a:solidFill>
              <a:srgbClr val="0A16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91456" y="13716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7,3%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D5D3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первокурсников с выгоранием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21424" y="12801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A1650"/>
          </a:solidFill>
          <a:ln w="12700">
            <a:solidFill>
              <a:srgbClr val="0A16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12864" y="13716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60,6%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D5D3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хотят снизить прокрастинацию через планирование</a:t>
            </a:r>
            <a:endParaRPr lang="en-US" sz="28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175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Почему это важно</a:t>
            </a:r>
            <a:endParaRPr lang="en-US" sz="15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Выгорание снижает успеваемость и ведёт к психологическим проблемам. Существующие планировщики не учитывают состояние студента. Потенциал: студенты всех курсов, СПО, старшеклассники.</a:t>
            </a:r>
            <a:endParaRPr lang="en-US" sz="15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3977A4-4BAB-4FFD-926D-98FF4558A6A2}"/>
              </a:ext>
            </a:extLst>
          </p:cNvPr>
          <p:cNvSpPr txBox="1"/>
          <p:nvPr/>
        </p:nvSpPr>
        <p:spPr>
          <a:xfrm>
            <a:off x="457200" y="4607570"/>
            <a:ext cx="70591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*Это исследование включало 506 студентов первого курса разных направлений.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Анализ конкурентов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Ключевое отличие: инструмент от выгорания с элементами тайм-менеджмента</a:t>
            </a:r>
            <a:endParaRPr lang="en-US" sz="13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407135"/>
              </p:ext>
            </p:extLst>
          </p:nvPr>
        </p:nvGraphicFramePr>
        <p:xfrm>
          <a:off x="457200" y="1280160"/>
          <a:ext cx="8229600" cy="1264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Конкурент</a:t>
                      </a:r>
                      <a:endParaRPr lang="en-US" sz="110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Слабое место</a:t>
                      </a:r>
                      <a:endParaRPr lang="en-US" sz="110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Наше преимущество</a:t>
                      </a:r>
                      <a:endParaRPr lang="en-US" sz="110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Агрегаторы расписания, платформы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Нет фокуса на состоянии студента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Решаем конкретную </a:t>
                      </a:r>
                      <a:r>
                        <a:rPr lang="en-US" sz="1050" dirty="0" err="1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задачу</a:t>
                      </a: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 </a:t>
                      </a:r>
                      <a:r>
                        <a:rPr lang="ru-RU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-</a:t>
                      </a: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 выгорание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Профориентационные боты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Нет связи с реальными действиями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Работаем с текущими задачами и состоянием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ИИ-ассистенты для учёбы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ИИ «для галочки», нет измеримого эффекта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OCR для быстрого добавления задач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Планировщики задач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Не учитывают эмоциональное состояние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A1650"/>
                          </a:solidFill>
                          <a:latin typeface="Inter Medium" panose="02000603000000020004" pitchFamily="50" charset="0"/>
                          <a:ea typeface="Inter Medium" panose="02000603000000020004" pitchFamily="50" charset="0"/>
                          <a:cs typeface="Inter Medium" panose="02000603000000020004" pitchFamily="50" charset="0"/>
                        </a:rPr>
                        <a:t>Планирование и трекинг настроения вместе</a:t>
                      </a:r>
                      <a:endParaRPr lang="en-US" sz="1050" dirty="0">
                        <a:latin typeface="Inter Medium" panose="02000603000000020004" pitchFamily="50" charset="0"/>
                        <a:ea typeface="Inter Medium" panose="02000603000000020004" pitchFamily="50" charset="0"/>
                        <a:cs typeface="Inter Medium" panose="0200060300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Решение и пользовательский сценарий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Чат-бот в MAX + мини-приложение внутри него</a:t>
            </a:r>
            <a:endParaRPr lang="en-US" sz="13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1  </a:t>
            </a: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Открывает бота в MAX</a:t>
            </a:r>
            <a:endParaRPr lang="en-US" sz="2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4630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2 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Переходит в мини-приложение</a:t>
            </a:r>
            <a:endParaRPr lang="en-US" sz="22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4630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3  </a:t>
            </a: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Импорт по фото: OCR распознаёт задачи</a:t>
            </a:r>
            <a:endParaRPr lang="en-US" sz="2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260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4 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Приоритизация по методу Эйзенхауэра</a:t>
            </a:r>
            <a:endParaRPr lang="en-US" sz="22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28346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29260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5  </a:t>
            </a: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Выполняет задачу и </a:t>
            </a:r>
            <a:r>
              <a:rPr lang="en-US" sz="13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отмечает</a:t>
            </a: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3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состояние</a:t>
            </a:r>
            <a:endParaRPr lang="en-US" sz="2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28346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29260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6 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Индикатор баланса и рекомендация</a:t>
            </a:r>
            <a:endParaRPr lang="en-US" sz="22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Интерфейс мини-приложения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Главная</a:t>
            </a:r>
            <a:endParaRPr lang="en-US" sz="12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2611147" y="45819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Добавить задачу</a:t>
            </a:r>
            <a:endParaRPr lang="en-US" sz="12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475488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Отметка состояния</a:t>
            </a:r>
            <a:endParaRPr lang="en-US" sz="12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10" name="Text 4"/>
          <p:cNvSpPr txBox="1"/>
          <p:nvPr/>
        </p:nvSpPr>
        <p:spPr>
          <a:xfrm>
            <a:off x="6858000" y="4572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Календарь</a:t>
            </a:r>
            <a:endParaRPr lang="en-US" sz="12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0BB4459-7E08-4366-A55D-FEF65436B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71" y="1005840"/>
            <a:ext cx="1702178" cy="356616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8FDA2AF-C9CA-46E6-A728-52795FD6E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750" y="1005840"/>
            <a:ext cx="1708046" cy="357608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4860202-69FB-46A4-ACE2-79F0339F6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754" y="1005840"/>
            <a:ext cx="1708046" cy="3576086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918CACB7-F9D7-4225-A5D8-BABFF84388C3}"/>
              </a:ext>
            </a:extLst>
          </p:cNvPr>
          <p:cNvSpPr txBox="1"/>
          <p:nvPr/>
        </p:nvSpPr>
        <p:spPr>
          <a:xfrm>
            <a:off x="2611147" y="477242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AA33FB6-3A26-4393-AD94-1171C577B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973" y="1004527"/>
            <a:ext cx="1699819" cy="35588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Совместная подготовка и карта приключений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70726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Друзья и группы</a:t>
            </a:r>
            <a:endParaRPr lang="en-US" sz="12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Задачами можно делиться с друзьями. В учебных группах ставятся общие цели («прочитать 10 статей за неделю»), виден прогресс друг друга. Ощущение, что ты не один.</a:t>
            </a:r>
            <a:endParaRPr lang="en-US" sz="1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566160" y="4572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Общие задачи</a:t>
            </a:r>
            <a:endParaRPr lang="en-US" sz="11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259127" y="4579257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Групповые задания</a:t>
            </a:r>
            <a:endParaRPr lang="en-US" sz="11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7040083" y="4572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Карта приключений</a:t>
            </a:r>
            <a:endParaRPr lang="en-US" sz="11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A5FBD20-10A3-438C-B7E9-EEC82AEF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767" y="1188720"/>
            <a:ext cx="1601793" cy="335584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54E9463-493B-490F-A83A-9922247AD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913" y="1188720"/>
            <a:ext cx="1602854" cy="335584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405935F-B307-4F5F-B15E-696412F4F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5006" y="1190939"/>
            <a:ext cx="1601794" cy="33536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C3BE144-7BFE-40FD-8129-1583E5FABCF8}"/>
              </a:ext>
            </a:extLst>
          </p:cNvPr>
          <p:cNvSpPr txBox="1"/>
          <p:nvPr/>
        </p:nvSpPr>
        <p:spPr>
          <a:xfrm>
            <a:off x="498328" y="3121747"/>
            <a:ext cx="28803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Квест-карта</a:t>
            </a:r>
            <a:endParaRPr lang="en-US" sz="12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Список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задач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превращается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в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карту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приключений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: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каждая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выполне</a:t>
            </a:r>
            <a:r>
              <a:rPr 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н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ная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задача</a:t>
            </a:r>
            <a:r>
              <a:rPr lang="ru-RU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это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шаг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по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сюжету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,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открывающий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новые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локации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,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персонажей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и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предметы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.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Головоломки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и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коллекционные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карточки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делают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подготовку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к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сессии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</a:t>
            </a:r>
            <a:r>
              <a:rPr lang="en-US" sz="10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исследованием</a:t>
            </a:r>
            <a:r>
              <a:rPr lang="en-US" sz="10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.</a:t>
            </a:r>
            <a:endParaRPr lang="en-US" sz="10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Ожидаемый эффект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Успеваемость</a:t>
            </a:r>
            <a:endParaRPr lang="en-US" sz="15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Задачи и дедлайны под контролем, приоритеты расставлены</a:t>
            </a:r>
            <a:endParaRPr lang="en-US" sz="15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463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26CC2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Дедлайны</a:t>
            </a:r>
            <a:endParaRPr lang="en-US" sz="1500" dirty="0">
              <a:solidFill>
                <a:srgbClr val="426CC2"/>
              </a:solidFill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Меньше пропущенных сроков благодаря напоминаниям</a:t>
            </a:r>
            <a:endParaRPr lang="en-US" sz="15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63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Благополучие</a:t>
            </a:r>
            <a:endParaRPr lang="en-US" sz="15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Рост субъективного благополучия, раннее замечание перегрузки</a:t>
            </a:r>
            <a:endParaRPr lang="en-US" sz="15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6BC5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Студент видит прогресс, понимает своё состояние и получает поддержку.</a:t>
            </a:r>
            <a:endParaRPr lang="en-US" sz="14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Архитектура решения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2822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F6BC5"/>
                </a:solidFill>
                <a:latin typeface="Inter Medium"/>
              </a:rPr>
              <a:t>Production: </a:t>
            </a:r>
            <a:r>
              <a:rPr lang="en-US" sz="1400" dirty="0" err="1">
                <a:solidFill>
                  <a:srgbClr val="3F6BC5"/>
                </a:solidFill>
                <a:latin typeface="Inter Medium"/>
              </a:rPr>
              <a:t>Vercel</a:t>
            </a:r>
            <a:r>
              <a:rPr lang="en-US" sz="1400" dirty="0">
                <a:solidFill>
                  <a:srgbClr val="3F6BC5"/>
                </a:solidFill>
                <a:latin typeface="Inter Medium"/>
              </a:rPr>
              <a:t> · </a:t>
            </a:r>
            <a:r>
              <a:rPr lang="ru-RU" sz="1400" dirty="0">
                <a:solidFill>
                  <a:srgbClr val="3F6BC5"/>
                </a:solidFill>
                <a:latin typeface="Inter Medium"/>
              </a:rPr>
              <a:t>локально: </a:t>
            </a:r>
            <a:r>
              <a:rPr lang="en-US" sz="1400" dirty="0">
                <a:solidFill>
                  <a:srgbClr val="3F6BC5"/>
                </a:solidFill>
                <a:latin typeface="Inter Medium"/>
              </a:rPr>
              <a:t>Docker</a:t>
            </a:r>
            <a:endParaRPr lang="en-US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Студент в MAX</a:t>
            </a:r>
            <a:endParaRPr lang="en-US" sz="12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F6BC5"/>
          </a:solidFill>
          <a:ln w="12700">
            <a:solidFill>
              <a:srgbClr val="3F6B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1650"/>
                </a:solidFill>
                <a:effectLst/>
                <a:uLnTx/>
                <a:uFillTx/>
                <a:latin typeface="Inter Medium"/>
                <a:ea typeface="+mn-ea"/>
                <a:cs typeface="+mn-cs"/>
              </a:rPr>
              <a:t>MAX Bot API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1650"/>
                </a:solidFill>
                <a:effectLst/>
                <a:uLnTx/>
                <a:uFillTx/>
                <a:latin typeface="Inter Medium"/>
                <a:ea typeface="+mn-ea"/>
                <a:cs typeface="+mn-cs"/>
              </a:rPr>
              <a:t>Webhook / </a:t>
            </a: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A1650"/>
                </a:solidFill>
                <a:effectLst/>
                <a:uLnTx/>
                <a:uFillTx/>
                <a:latin typeface="Inter Medium"/>
                <a:ea typeface="+mn-ea"/>
                <a:cs typeface="+mn-cs"/>
              </a:rPr>
              <a:t>локальный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1650"/>
                </a:solidFill>
                <a:effectLst/>
                <a:uLnTx/>
                <a:uFillTx/>
                <a:latin typeface="Inter Medium"/>
                <a:ea typeface="+mn-ea"/>
                <a:cs typeface="+mn-cs"/>
              </a:rPr>
              <a:t>polling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15544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A1650"/>
          </a:solidFill>
          <a:ln w="12700">
            <a:solidFill>
              <a:srgbClr val="0A16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Mini App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React + TypeScript</a:t>
            </a:r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3F6BC5"/>
          </a:solidFill>
          <a:ln w="12700">
            <a:solidFill>
              <a:srgbClr val="3F6B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1554480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Go REST API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Vercel</a:t>
            </a: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Function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029200" y="31089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OCR API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production </a:t>
            </a:r>
            <a:r>
              <a:rPr lang="en-US" sz="1200" b="1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Vercel</a:t>
            </a: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*</a:t>
            </a:r>
          </a:p>
        </p:txBody>
      </p:sp>
      <p:sp>
        <p:nvSpPr>
          <p:cNvPr id="14" name="Shape 12"/>
          <p:cNvSpPr/>
          <p:nvPr/>
        </p:nvSpPr>
        <p:spPr>
          <a:xfrm>
            <a:off x="7315200" y="31089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SQLite / Turso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0" y="31089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Задачи и Эйзенхауэр</a:t>
            </a:r>
          </a:p>
          <a:p>
            <a:pPr marL="0" indent="0" algn="ctr">
              <a:buNone/>
            </a:pPr>
            <a:r>
              <a:rPr lang="ru-RU" sz="1050" b="1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настроение и напоминания</a:t>
            </a:r>
          </a:p>
        </p:txBody>
      </p:sp>
      <p:sp>
        <p:nvSpPr>
          <p:cNvPr id="18" name="Shape 16"/>
          <p:cNvSpPr/>
          <p:nvPr/>
        </p:nvSpPr>
        <p:spPr>
          <a:xfrm>
            <a:off x="2286000" y="1965960"/>
            <a:ext cx="457200" cy="0"/>
          </a:xfrm>
          <a:prstGeom prst="line">
            <a:avLst/>
          </a:prstGeom>
          <a:noFill/>
          <a:ln w="19050">
            <a:solidFill>
              <a:srgbClr val="0A165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1965960"/>
            <a:ext cx="457200" cy="0"/>
          </a:xfrm>
          <a:prstGeom prst="line">
            <a:avLst/>
          </a:prstGeom>
          <a:noFill/>
          <a:ln w="19050">
            <a:solidFill>
              <a:srgbClr val="0A165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0" y="1965960"/>
            <a:ext cx="457200" cy="0"/>
          </a:xfrm>
          <a:prstGeom prst="line">
            <a:avLst/>
          </a:prstGeom>
          <a:noFill/>
          <a:ln w="19050">
            <a:solidFill>
              <a:srgbClr val="0A165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01000" y="2377440"/>
            <a:ext cx="0" cy="731520"/>
          </a:xfrm>
          <a:prstGeom prst="line">
            <a:avLst/>
          </a:prstGeom>
          <a:noFill/>
          <a:ln w="19050">
            <a:solidFill>
              <a:srgbClr val="0A165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6858000" y="3520440"/>
            <a:ext cx="457200" cy="0"/>
          </a:xfrm>
          <a:prstGeom prst="line">
            <a:avLst/>
          </a:prstGeom>
          <a:noFill/>
          <a:ln w="19050">
            <a:solidFill>
              <a:srgbClr val="0A165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4572000" y="3520440"/>
            <a:ext cx="457200" cy="0"/>
          </a:xfrm>
          <a:prstGeom prst="line">
            <a:avLst/>
          </a:prstGeom>
          <a:noFill/>
          <a:ln w="19050">
            <a:solidFill>
              <a:srgbClr val="0A165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Данные и интеграции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Данные</a:t>
            </a:r>
            <a:endParaRPr lang="en-US" sz="15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MAX ID, имя и согласия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Задачи, сроки и приоритеты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Отметки настроения и заметки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Фото для OCR; сохранение после проверки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Групповые задачи — только после </a:t>
            </a:r>
            <a:r>
              <a:rPr lang="ru-RU" sz="13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opt-in</a:t>
            </a:r>
            <a:endParaRPr lang="ru-RU" sz="1300" dirty="0">
              <a:solidFill>
                <a:srgbClr val="0A1650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801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26CC2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Интеграции</a:t>
            </a:r>
            <a:endParaRPr lang="en-US" sz="1500" dirty="0">
              <a:solidFill>
                <a:srgbClr val="426CC2"/>
              </a:solidFill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MAX Bot API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и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Mini App </a:t>
            </a:r>
            <a:r>
              <a:rPr lang="en-US" sz="1300" dirty="0" err="1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initData</a:t>
            </a:r>
            <a:endParaRPr lang="en-US" sz="13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Go API, webhook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и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Cron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 </a:t>
            </a:r>
            <a:r>
              <a:rPr lang="en-US" sz="1300" dirty="0" err="1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Vercel</a:t>
            </a:r>
            <a:endParaRPr lang="en-US" sz="13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OCR API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в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production </a:t>
            </a:r>
            <a:r>
              <a:rPr lang="en-US" sz="1300" dirty="0" err="1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Vercel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(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по настройке команды)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SQLite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локально;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Turso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при заданных 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credentials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Yandex </a:t>
            </a:r>
            <a:r>
              <a:rPr lang="en-US" sz="1300" dirty="0" err="1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SpeechKit</a:t>
            </a:r>
            <a:r>
              <a:rPr lang="en-US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— </a:t>
            </a:r>
            <a:r>
              <a:rPr lang="ru-RU" sz="13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опционально для голоса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Ограничения, риски и допущения</a:t>
            </a:r>
            <a:endParaRPr lang="en-US" sz="26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Ограничения</a:t>
            </a:r>
            <a:endParaRPr lang="en-US" sz="14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Пилот ориентирован на первокурсников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Подсказки статические, не заменяют психолога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Репозиторий отстаёт от заявленного </a:t>
            </a:r>
            <a:r>
              <a:rPr lang="ru-RU" sz="1200" dirty="0" err="1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production</a:t>
            </a:r>
            <a:r>
              <a:rPr lang="ru-RU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 OCR: синхронизировать обработчик перед сдачей</a:t>
            </a:r>
          </a:p>
        </p:txBody>
      </p:sp>
      <p:sp>
        <p:nvSpPr>
          <p:cNvPr id="5" name="Shape 3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26CC2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Риски</a:t>
            </a:r>
            <a:endParaRPr lang="en-US" sz="1400" dirty="0">
              <a:solidFill>
                <a:srgbClr val="426CC2"/>
              </a:solidFill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</a:t>
            </a:r>
            <a:r>
              <a:rPr lang="ru-RU" sz="12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Пользователь может перестать отмечать состояние</a:t>
            </a:r>
            <a:endParaRPr lang="en-US" sz="14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OCR </a:t>
            </a:r>
            <a:r>
              <a:rPr lang="ru-RU" sz="12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может ошибаться</a:t>
            </a:r>
            <a:endParaRPr lang="en-US" sz="14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</a:t>
            </a:r>
            <a:r>
              <a:rPr lang="ru-RU" sz="1200" dirty="0">
                <a:solidFill>
                  <a:srgbClr val="426CC2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Напоминания могут раздражать</a:t>
            </a:r>
            <a:endParaRPr lang="en-US" sz="1400" dirty="0">
              <a:solidFill>
                <a:srgbClr val="426CC2"/>
              </a:solidFill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D5D3FF"/>
          </a:solidFill>
          <a:ln w="12700">
            <a:solidFill>
              <a:srgbClr val="D5D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65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Допущения</a:t>
            </a:r>
            <a:endParaRPr lang="en-US" sz="1400" dirty="0">
              <a:latin typeface="Inter Black" panose="02000A03000000020004" pitchFamily="50" charset="0"/>
              <a:ea typeface="Inter Black" panose="02000A03000000020004" pitchFamily="50" charset="0"/>
              <a:cs typeface="Inter Black" panose="02000A03000000020004" pitchFamily="50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Студенты активно используют MAX</a:t>
            </a:r>
            <a:endParaRPr lang="en-US" sz="14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Отметка состояния занимает секунды</a:t>
            </a:r>
            <a:endParaRPr lang="en-US" sz="14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A1650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rPr>
              <a:t>• Баланс помогает замечать перегрузку</a:t>
            </a:r>
            <a:endParaRPr lang="en-US" sz="1400" dirty="0">
              <a:latin typeface="Inter Medium" panose="02000603000000020004" pitchFamily="50" charset="0"/>
              <a:ea typeface="Inter Medium" panose="02000603000000020004" pitchFamily="50" charset="0"/>
              <a:cs typeface="Inter Medium" panose="02000603000000020004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818</Words>
  <Application>Microsoft Office PowerPoint</Application>
  <PresentationFormat>Экран (16:9)</PresentationFormat>
  <Paragraphs>159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Inter Black</vt:lpstr>
      <vt:lpstr>Inter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WOLIF</cp:lastModifiedBy>
  <cp:revision>5</cp:revision>
  <dcterms:created xsi:type="dcterms:W3CDTF">2026-09-29T17:40:34Z</dcterms:created>
  <dcterms:modified xsi:type="dcterms:W3CDTF">2026-09-29T23:20:40Z</dcterms:modified>
</cp:coreProperties>
</file>