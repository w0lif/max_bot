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69" r:id="rId3"/>
    <p:sldId id="271" r:id="rId4"/>
    <p:sldId id="258" r:id="rId5"/>
    <p:sldId id="259" r:id="rId6"/>
    <p:sldId id="260" r:id="rId7"/>
    <p:sldId id="261" r:id="rId8"/>
    <p:sldId id="262" r:id="rId9"/>
    <p:sldId id="270" r:id="rId10"/>
    <p:sldId id="263" r:id="rId11"/>
    <p:sldId id="264" r:id="rId12"/>
    <p:sldId id="265" r:id="rId13"/>
    <p:sldId id="267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A1650"/>
    <a:srgbClr val="426CC2"/>
    <a:srgbClr val="E9F3FF"/>
    <a:srgbClr val="E6E6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63" d="100"/>
          <a:sy n="63" d="100"/>
        </p:scale>
        <p:origin x="77" y="82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306065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64B9600E-7B0E-4D29-9AB0-A1F5EEE438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05B635-9270-417F-827D-8D92C1338443}" type="datetimeFigureOut">
              <a:rPr lang="ru-RU" smtClean="0"/>
              <a:t>30.09.2026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8F631DAC-C254-44A2-9F7B-57EDBC3911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F4AFE1B-91A3-45F1-8091-42B025932D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406760-1389-4FE7-AE38-C86105AB711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823220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max.ru/t165_hakaton_max_bot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max-bot-sable.vercel.app/api" TargetMode="External"/><Relationship Id="rId4" Type="http://schemas.openxmlformats.org/officeDocument/2006/relationships/hyperlink" Target="https://github.com/W0LIF/max_bot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9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1">
            <a:extLst>
              <a:ext uri="{FF2B5EF4-FFF2-40B4-BE49-F238E27FC236}">
                <a16:creationId xmlns:a16="http://schemas.microsoft.com/office/drawing/2014/main" id="{CF647694-4272-4ED4-8E7E-0877912023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620" y="544141"/>
            <a:ext cx="1667444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ru-RU" altLang="ru-RU" sz="1800" b="1" i="0" u="none" strike="noStrike" cap="none" normalizeH="0" baseline="0" dirty="0">
                <a:ln>
                  <a:noFill/>
                </a:ln>
                <a:solidFill>
                  <a:srgbClr val="0A1650"/>
                </a:solidFill>
                <a:effectLst/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MAX</a:t>
            </a:r>
            <a:b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rgbClr val="0A1650"/>
                </a:solidFill>
                <a:effectLst/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</a:br>
            <a:r>
              <a:rPr lang="ru-RU" altLang="ru-RU" sz="10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  <a:hlinkClick r:id="rId3"/>
              </a:rPr>
              <a:t>@t165_hakaton_max_bot</a:t>
            </a: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rgbClr val="0A1650"/>
              </a:solidFill>
              <a:effectLst/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94AA2D96-997F-4267-B7C9-0735EDCD45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620" y="1271417"/>
            <a:ext cx="2534668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ru-RU" altLang="ru-RU" sz="1800" b="1" i="0" u="none" strike="noStrike" cap="none" normalizeH="0" baseline="0" dirty="0" err="1">
                <a:ln>
                  <a:noFill/>
                </a:ln>
                <a:solidFill>
                  <a:srgbClr val="0A1650"/>
                </a:solidFill>
                <a:effectLst/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GitHub</a:t>
            </a:r>
            <a:b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rgbClr val="0A1650"/>
                </a:solidFill>
                <a:effectLst/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</a:br>
            <a:r>
              <a:rPr lang="ru-RU" altLang="ru-RU" sz="10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  <a:hlinkClick r:id="rId4"/>
              </a:rPr>
              <a:t>github.com/W0LIF/</a:t>
            </a:r>
            <a:r>
              <a:rPr lang="ru-RU" altLang="ru-RU" sz="1000" dirty="0" err="1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  <a:hlinkClick r:id="rId4"/>
              </a:rPr>
              <a:t>max_bot</a:t>
            </a:r>
            <a:r>
              <a:rPr lang="en-US" altLang="ru-RU" sz="10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 </a:t>
            </a:r>
            <a:r>
              <a:rPr lang="ru-RU" sz="10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HEAD </a:t>
            </a:r>
            <a:r>
              <a:rPr lang="en-US" sz="10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76a9620*</a:t>
            </a:r>
            <a:endParaRPr kumimoji="0" lang="ru-RU" altLang="ru-RU" sz="1000" b="0" i="0" u="none" strike="noStrike" cap="none" normalizeH="0" baseline="0" dirty="0">
              <a:ln>
                <a:noFill/>
              </a:ln>
              <a:solidFill>
                <a:srgbClr val="0A1650"/>
              </a:solidFill>
              <a:effectLst/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7EE6A7D5-1B8B-4630-A76B-E7EC7BAF66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7178" y="1947817"/>
            <a:ext cx="2114681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ru-RU" altLang="ru-RU" sz="1800" b="1" i="0" u="none" strike="noStrike" cap="none" normalizeH="0" baseline="0" dirty="0">
                <a:ln>
                  <a:noFill/>
                </a:ln>
                <a:solidFill>
                  <a:srgbClr val="0A1650"/>
                </a:solidFill>
                <a:effectLst/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API</a:t>
            </a:r>
            <a:b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rgbClr val="0A1650"/>
                </a:solidFill>
                <a:effectLst/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</a:br>
            <a:r>
              <a:rPr lang="ru-RU" altLang="ru-RU" sz="10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  <a:hlinkClick r:id="rId5"/>
              </a:rPr>
              <a:t>https://max-bot-sable.vercel.app/api</a:t>
            </a: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rgbClr val="0A1650"/>
              </a:solidFill>
              <a:effectLst/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</p:txBody>
      </p:sp>
      <p:sp>
        <p:nvSpPr>
          <p:cNvPr id="11" name="Rectangle 5">
            <a:extLst>
              <a:ext uri="{FF2B5EF4-FFF2-40B4-BE49-F238E27FC236}">
                <a16:creationId xmlns:a16="http://schemas.microsoft.com/office/drawing/2014/main" id="{C84BEDB6-5059-4A07-91E5-B711C1888E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620" y="3833138"/>
            <a:ext cx="2289409" cy="67710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ru-RU" altLang="ru-RU" sz="1800" b="1" i="0" u="none" strike="noStrike" cap="none" normalizeH="0" baseline="0" dirty="0">
                <a:ln>
                  <a:noFill/>
                </a:ln>
                <a:solidFill>
                  <a:srgbClr val="0A1650"/>
                </a:solidFill>
                <a:effectLst/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Environment</a:t>
            </a:r>
            <a:b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rgbClr val="0A1650"/>
                </a:solidFill>
                <a:effectLst/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</a:br>
            <a:r>
              <a:rPr lang="ru-RU" altLang="ru-RU" sz="10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WEBAPP_URL=</a:t>
            </a:r>
            <a:r>
              <a:rPr lang="ru-RU" altLang="ru-RU" sz="1000" dirty="0" err="1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max-bot-sable.vercel.app</a:t>
            </a:r>
            <a:br>
              <a:rPr kumimoji="0" lang="ru-RU" altLang="ru-RU" sz="600" b="0" i="0" u="none" strike="noStrike" cap="none" normalizeH="0" baseline="0" dirty="0">
                <a:ln>
                  <a:noFill/>
                </a:ln>
                <a:solidFill>
                  <a:srgbClr val="0A1650"/>
                </a:solidFill>
                <a:effectLst/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</a:br>
            <a:r>
              <a:rPr lang="ru-RU" altLang="ru-RU" sz="10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Секреты хранятся в </a:t>
            </a:r>
            <a:r>
              <a:rPr lang="ru-RU" altLang="ru-RU" sz="1000" dirty="0" err="1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Vercel</a:t>
            </a: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rgbClr val="0A1650"/>
              </a:solidFill>
              <a:effectLst/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BBEADD-D744-437A-A293-D0787881F357}"/>
              </a:ext>
            </a:extLst>
          </p:cNvPr>
          <p:cNvSpPr txBox="1"/>
          <p:nvPr/>
        </p:nvSpPr>
        <p:spPr>
          <a:xfrm>
            <a:off x="4051179" y="2132261"/>
            <a:ext cx="4705643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b="1" dirty="0">
                <a:solidFill>
                  <a:srgbClr val="0A1650"/>
                </a:solidFill>
                <a:latin typeface="Inter Black"/>
              </a:rPr>
              <a:t>Основной сценарий</a:t>
            </a:r>
            <a:endParaRPr lang="ru-RU" sz="1400" dirty="0">
              <a:solidFill>
                <a:srgbClr val="0A1650"/>
              </a:solidFill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  <a:p>
            <a:r>
              <a:rPr lang="ru-RU" sz="1200" b="1" dirty="0">
                <a:solidFill>
                  <a:srgbClr val="0A1650"/>
                </a:solidFill>
                <a:latin typeface="Inter Black"/>
              </a:rPr>
              <a:t>1. Открыть бота в MAX, принять политику и выбрать напоминания.</a:t>
            </a:r>
          </a:p>
          <a:p>
            <a:r>
              <a:rPr lang="ru-RU" sz="1200" b="1" dirty="0">
                <a:solidFill>
                  <a:srgbClr val="0A1650"/>
                </a:solidFill>
                <a:latin typeface="Inter Black"/>
              </a:rPr>
              <a:t>2. Открыть мини-приложение кнопкой из меню бота.</a:t>
            </a:r>
          </a:p>
          <a:p>
            <a:r>
              <a:rPr lang="ru-RU" sz="1200" b="1" dirty="0">
                <a:solidFill>
                  <a:srgbClr val="0A1650"/>
                </a:solidFill>
                <a:latin typeface="Inter Black"/>
              </a:rPr>
              <a:t>3. Создать задачу вручную или загрузить фото и проверить OCR-черновик.</a:t>
            </a:r>
          </a:p>
          <a:p>
            <a:r>
              <a:rPr lang="ru-RU" sz="1200" b="1" dirty="0">
                <a:solidFill>
                  <a:srgbClr val="0A1650"/>
                </a:solidFill>
                <a:latin typeface="Inter Black"/>
              </a:rPr>
              <a:t>4. Выбрать квадрант Эйзенхауэра и сохранить задачу.</a:t>
            </a:r>
          </a:p>
          <a:p>
            <a:r>
              <a:rPr lang="ru-RU" sz="1200" b="1" dirty="0">
                <a:solidFill>
                  <a:srgbClr val="0A1650"/>
                </a:solidFill>
                <a:latin typeface="Inter Black"/>
              </a:rPr>
              <a:t>5. Выполнить задачу и отметить настроение.</a:t>
            </a:r>
          </a:p>
          <a:p>
            <a:r>
              <a:rPr lang="ru-RU" sz="1200" b="1" dirty="0">
                <a:solidFill>
                  <a:srgbClr val="0A1650"/>
                </a:solidFill>
                <a:latin typeface="Inter Black"/>
              </a:rPr>
              <a:t>6. Смотреть недельный баланс и получать напоминания о сроках.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AC2D2B7-31C7-4A25-BBBE-D6F0A95A9B62}"/>
              </a:ext>
            </a:extLst>
          </p:cNvPr>
          <p:cNvSpPr txBox="1"/>
          <p:nvPr/>
        </p:nvSpPr>
        <p:spPr>
          <a:xfrm>
            <a:off x="283844" y="324467"/>
            <a:ext cx="5277263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6600" dirty="0"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ТЕЛЕСК</a:t>
            </a:r>
            <a:r>
              <a:rPr lang="en-US" sz="6600" dirty="0"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   </a:t>
            </a:r>
            <a:r>
              <a:rPr lang="ru-RU" sz="6600" dirty="0"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П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79AB4E3-2139-4A76-B000-708A5A8612D9}"/>
              </a:ext>
            </a:extLst>
          </p:cNvPr>
          <p:cNvSpPr txBox="1"/>
          <p:nvPr/>
        </p:nvSpPr>
        <p:spPr>
          <a:xfrm>
            <a:off x="283844" y="1877704"/>
            <a:ext cx="5277263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350" b="1" dirty="0" err="1">
                <a:solidFill>
                  <a:srgbClr val="1E1F2B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Трекер</a:t>
            </a:r>
            <a:r>
              <a:rPr lang="ru-RU" sz="1350" b="1" dirty="0">
                <a:solidFill>
                  <a:srgbClr val="1E1F2B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 учебного баланса и профилактики выгорания</a:t>
            </a:r>
          </a:p>
          <a:p>
            <a:r>
              <a:rPr lang="ru-RU" sz="1350" b="1" dirty="0">
                <a:solidFill>
                  <a:srgbClr val="1E1F2B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Мини-приложение в MAX для студентов</a:t>
            </a:r>
            <a:endParaRPr lang="ru-RU" sz="1350" dirty="0">
              <a:solidFill>
                <a:srgbClr val="1E1F2B"/>
              </a:solidFill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9998A3C-7AF0-4B13-B486-3DB264918F61}"/>
              </a:ext>
            </a:extLst>
          </p:cNvPr>
          <p:cNvSpPr txBox="1"/>
          <p:nvPr/>
        </p:nvSpPr>
        <p:spPr>
          <a:xfrm>
            <a:off x="283844" y="1244300"/>
            <a:ext cx="675513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dirty="0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Фокус</a:t>
            </a:r>
            <a:r>
              <a:rPr lang="ru-RU" sz="2400" dirty="0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 на учёбе. </a:t>
            </a:r>
            <a:r>
              <a:rPr lang="ru-RU" sz="2400" b="1" dirty="0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Фокус</a:t>
            </a:r>
            <a:r>
              <a:rPr lang="ru-RU" sz="2400" dirty="0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 на себе.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430580CF-1219-4D3B-9BDC-52ADD06569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6294" y="653981"/>
            <a:ext cx="4223862" cy="4198983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FFE6A23B-5C0F-4F02-A14C-4920944176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97158" y="305418"/>
            <a:ext cx="1065317" cy="1065317"/>
          </a:xfrm>
          <a:prstGeom prst="rect">
            <a:avLst/>
          </a:prstGeom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7A6F4E0F-0004-440A-BEC0-03C5302F841B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4643" b="79288"/>
          <a:stretch/>
        </p:blipFill>
        <p:spPr>
          <a:xfrm>
            <a:off x="4725520" y="-12912"/>
            <a:ext cx="672542" cy="819736"/>
          </a:xfrm>
          <a:prstGeom prst="rect">
            <a:avLst/>
          </a:prstGeom>
        </p:spPr>
      </p:pic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A4F37DAA-A5D9-492F-90F2-1831AE37AEB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957" b="78907"/>
          <a:stretch/>
        </p:blipFill>
        <p:spPr>
          <a:xfrm>
            <a:off x="4970714" y="487971"/>
            <a:ext cx="590393" cy="561506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74EE6EFF-0F21-44BD-BE90-1ABC34B0C2FA}"/>
              </a:ext>
            </a:extLst>
          </p:cNvPr>
          <p:cNvSpPr txBox="1"/>
          <p:nvPr/>
        </p:nvSpPr>
        <p:spPr>
          <a:xfrm>
            <a:off x="283843" y="3660142"/>
            <a:ext cx="2230757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350" dirty="0">
                <a:solidFill>
                  <a:srgbClr val="0B1956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Команда</a:t>
            </a:r>
            <a:r>
              <a:rPr lang="en-US" sz="1350" dirty="0">
                <a:solidFill>
                  <a:srgbClr val="0B1956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 </a:t>
            </a:r>
            <a:r>
              <a:rPr lang="ru-RU" sz="1350" dirty="0" err="1">
                <a:solidFill>
                  <a:srgbClr val="0B1956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КиберМыши</a:t>
            </a:r>
            <a:r>
              <a:rPr lang="en-US" sz="1350" dirty="0">
                <a:solidFill>
                  <a:srgbClr val="0B1956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:</a:t>
            </a:r>
            <a:endParaRPr lang="ru-RU" sz="1350" dirty="0">
              <a:solidFill>
                <a:srgbClr val="0B1956"/>
              </a:solidFill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C6DC87B-E80C-49D4-94E7-B34597BA352F}"/>
              </a:ext>
            </a:extLst>
          </p:cNvPr>
          <p:cNvSpPr txBox="1"/>
          <p:nvPr/>
        </p:nvSpPr>
        <p:spPr>
          <a:xfrm>
            <a:off x="290803" y="3937836"/>
            <a:ext cx="321331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350" dirty="0" err="1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Запьянцев</a:t>
            </a:r>
            <a:r>
              <a:rPr lang="ru-RU" sz="1350" dirty="0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 Олег</a:t>
            </a:r>
          </a:p>
          <a:p>
            <a:r>
              <a:rPr lang="ru-RU" sz="1350" dirty="0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Герасимова Анна</a:t>
            </a:r>
          </a:p>
          <a:p>
            <a:r>
              <a:rPr lang="ru-RU" sz="1350" dirty="0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Вепрева Анастасия</a:t>
            </a:r>
          </a:p>
          <a:p>
            <a:r>
              <a:rPr lang="ru-RU" sz="1350" dirty="0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Чванова Мария</a:t>
            </a:r>
          </a:p>
        </p:txBody>
      </p:sp>
      <p:pic>
        <p:nvPicPr>
          <p:cNvPr id="29" name="Рисунок 28">
            <a:extLst>
              <a:ext uri="{FF2B5EF4-FFF2-40B4-BE49-F238E27FC236}">
                <a16:creationId xmlns:a16="http://schemas.microsoft.com/office/drawing/2014/main" id="{D82661E3-3C34-4B17-8F98-128AC8D5BE9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8679" y="4106369"/>
            <a:ext cx="1191949" cy="1241301"/>
          </a:xfrm>
          <a:prstGeom prst="rect">
            <a:avLst/>
          </a:prstGeom>
        </p:spPr>
      </p:pic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43EADC12-5A45-416A-814F-4179E42F645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363" t="21804" r="2750" b="58051"/>
          <a:stretch/>
        </p:blipFill>
        <p:spPr>
          <a:xfrm>
            <a:off x="2329061" y="4187927"/>
            <a:ext cx="371079" cy="400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99134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83E881D4-02D7-4DE2-AE0B-E0F34EEEF429}"/>
              </a:ext>
            </a:extLst>
          </p:cNvPr>
          <p:cNvSpPr txBox="1"/>
          <p:nvPr/>
        </p:nvSpPr>
        <p:spPr>
          <a:xfrm>
            <a:off x="365774" y="241749"/>
            <a:ext cx="3788229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600" dirty="0">
                <a:solidFill>
                  <a:srgbClr val="0A1650"/>
                </a:solidFill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Почему Телескоп?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827951A-8956-4BBA-8010-CE8FA5DE30E5}"/>
              </a:ext>
            </a:extLst>
          </p:cNvPr>
          <p:cNvSpPr txBox="1"/>
          <p:nvPr/>
        </p:nvSpPr>
        <p:spPr>
          <a:xfrm>
            <a:off x="365774" y="737899"/>
            <a:ext cx="4572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Помогает увидеть то, что сейчас кажется слишком далёким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A184CBF-8850-4C68-A213-F309095D8C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8357" y="-156489"/>
            <a:ext cx="3240512" cy="5661228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2E3A47A4-3277-4B55-BFA2-FF35555A1985}"/>
              </a:ext>
            </a:extLst>
          </p:cNvPr>
          <p:cNvSpPr txBox="1"/>
          <p:nvPr/>
        </p:nvSpPr>
        <p:spPr>
          <a:xfrm>
            <a:off x="4282454" y="3389939"/>
            <a:ext cx="10493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solidFill>
                  <a:srgbClr val="0A1650"/>
                </a:solidFill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Фокус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77C6974-C935-4E67-88F4-3B7DC85B7886}"/>
              </a:ext>
            </a:extLst>
          </p:cNvPr>
          <p:cNvSpPr txBox="1"/>
          <p:nvPr/>
        </p:nvSpPr>
        <p:spPr>
          <a:xfrm>
            <a:off x="6911339" y="558032"/>
            <a:ext cx="86418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Путь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DE83A2B-4D63-4195-9B52-33597684C5D2}"/>
              </a:ext>
            </a:extLst>
          </p:cNvPr>
          <p:cNvSpPr txBox="1"/>
          <p:nvPr/>
        </p:nvSpPr>
        <p:spPr>
          <a:xfrm>
            <a:off x="6803400" y="2670810"/>
            <a:ext cx="17602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solidFill>
                  <a:srgbClr val="0A1650"/>
                </a:solidFill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Наблюдение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D5DEE7C-F125-4458-9F1B-C98E6071DA2B}"/>
              </a:ext>
            </a:extLst>
          </p:cNvPr>
          <p:cNvSpPr txBox="1"/>
          <p:nvPr/>
        </p:nvSpPr>
        <p:spPr>
          <a:xfrm>
            <a:off x="4369006" y="1459805"/>
            <a:ext cx="8305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Рост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A666F20-461F-4AE1-ACE1-43105E5C635D}"/>
              </a:ext>
            </a:extLst>
          </p:cNvPr>
          <p:cNvSpPr txBox="1"/>
          <p:nvPr/>
        </p:nvSpPr>
        <p:spPr>
          <a:xfrm>
            <a:off x="3463827" y="3690104"/>
            <a:ext cx="186800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000" dirty="0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Сосредоточиться на том, что важно сейчас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5419A9C-23BF-4C99-A01F-1E4D9171E69D}"/>
              </a:ext>
            </a:extLst>
          </p:cNvPr>
          <p:cNvSpPr txBox="1"/>
          <p:nvPr/>
        </p:nvSpPr>
        <p:spPr>
          <a:xfrm>
            <a:off x="7049066" y="860662"/>
            <a:ext cx="21240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900" dirty="0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Учёба - это не одна большая цель, а множество этапов.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21D6157-C3D7-4742-9397-924FA0B214EF}"/>
              </a:ext>
            </a:extLst>
          </p:cNvPr>
          <p:cNvSpPr txBox="1"/>
          <p:nvPr/>
        </p:nvSpPr>
        <p:spPr>
          <a:xfrm>
            <a:off x="6803400" y="2973440"/>
            <a:ext cx="2108127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000" dirty="0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Важно следить не только за выполненными задачами, но и за собой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0A697F0-A36E-40D6-8588-2FA185B21756}"/>
              </a:ext>
            </a:extLst>
          </p:cNvPr>
          <p:cNvSpPr txBox="1"/>
          <p:nvPr/>
        </p:nvSpPr>
        <p:spPr>
          <a:xfrm>
            <a:off x="3556992" y="1787122"/>
            <a:ext cx="2066821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000" dirty="0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Постепенно двигаться вперёд и формировать устойчивые привычки</a:t>
            </a:r>
          </a:p>
        </p:txBody>
      </p:sp>
      <p:pic>
        <p:nvPicPr>
          <p:cNvPr id="42" name="Рисунок 41">
            <a:extLst>
              <a:ext uri="{FF2B5EF4-FFF2-40B4-BE49-F238E27FC236}">
                <a16:creationId xmlns:a16="http://schemas.microsoft.com/office/drawing/2014/main" id="{FA40997E-0935-452F-B60E-889BC78421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703628" y="1628580"/>
            <a:ext cx="3836393" cy="3759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43097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AF2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199" y="320040"/>
            <a:ext cx="809244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ru-RU" sz="2000" dirty="0">
                <a:solidFill>
                  <a:srgbClr val="0B1956"/>
                </a:solidFill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Как первокурснику пройти первую сессию, не утонув в дедлайнах?</a:t>
            </a:r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1600200"/>
          </a:xfrm>
          <a:prstGeom prst="roundRect">
            <a:avLst>
              <a:gd name="adj" fmla="val 6857"/>
            </a:avLst>
          </a:prstGeom>
          <a:solidFill>
            <a:srgbClr val="D5D3FF"/>
          </a:solidFill>
          <a:ln w="12700">
            <a:solidFill>
              <a:srgbClr val="D5D3FF"/>
            </a:solidFill>
            <a:prstDash val="solid"/>
          </a:ln>
        </p:spPr>
        <p:txBody>
          <a:bodyPr/>
          <a:lstStyle/>
          <a:p>
            <a:endParaRPr lang="ru-RU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188720"/>
            <a:ext cx="3749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 err="1">
                <a:solidFill>
                  <a:srgbClr val="0A1650"/>
                </a:solidFill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Проблем</a:t>
            </a:r>
            <a:r>
              <a:rPr lang="ru-RU" sz="1500" b="1" dirty="0">
                <a:solidFill>
                  <a:srgbClr val="0A1650"/>
                </a:solidFill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ы</a:t>
            </a:r>
          </a:p>
          <a:p>
            <a:r>
              <a:rPr lang="ru-RU" sz="1300" dirty="0">
                <a:solidFill>
                  <a:srgbClr val="0B1956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Множество задач</a:t>
            </a:r>
          </a:p>
          <a:p>
            <a:r>
              <a:rPr lang="ru-RU" sz="8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Расписание, лабораторные, самостоятельная работа, дедлайны.</a:t>
            </a:r>
          </a:p>
          <a:p>
            <a:r>
              <a:rPr lang="ru-RU" sz="1300" dirty="0">
                <a:solidFill>
                  <a:srgbClr val="0B1956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Прокрастинация</a:t>
            </a:r>
          </a:p>
          <a:p>
            <a:r>
              <a:rPr lang="ru-RU" sz="8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Задачи откладываются → нагрузка концентрируется перед дедлайном.</a:t>
            </a:r>
          </a:p>
          <a:p>
            <a:r>
              <a:rPr lang="ru-RU" sz="1300" dirty="0">
                <a:solidFill>
                  <a:srgbClr val="0B1956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Рост напряжения</a:t>
            </a:r>
          </a:p>
          <a:p>
            <a:r>
              <a:rPr lang="ru-RU" sz="8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Студент не всегда замечает, что нагрузка уже влияет на его состояние.</a:t>
            </a:r>
          </a:p>
          <a:p>
            <a:endParaRPr lang="ru-RU" sz="1300" dirty="0">
              <a:solidFill>
                <a:srgbClr val="0B1956"/>
              </a:solidFill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  <a:p>
            <a:endParaRPr lang="ru-RU" sz="1300" dirty="0">
              <a:solidFill>
                <a:srgbClr val="0B1956"/>
              </a:solidFill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  <a:p>
            <a:endParaRPr lang="ru-RU" sz="1600" dirty="0">
              <a:solidFill>
                <a:srgbClr val="0B1956"/>
              </a:solidFill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  <a:p>
            <a:pPr marL="0" indent="0">
              <a:buNone/>
            </a:pPr>
            <a:endParaRPr lang="en-US" sz="1500" dirty="0"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663440" y="1097280"/>
            <a:ext cx="402336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800600" y="1188720"/>
            <a:ext cx="3749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426CC2"/>
                </a:solidFill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Решение</a:t>
            </a:r>
            <a:endParaRPr lang="en-US" sz="1500" dirty="0">
              <a:solidFill>
                <a:srgbClr val="426CC2"/>
              </a:solidFill>
              <a:latin typeface="Inter Black" panose="02000A03000000020004" pitchFamily="50" charset="0"/>
              <a:ea typeface="Inter Black" panose="02000A03000000020004" pitchFamily="50" charset="0"/>
              <a:cs typeface="Inter Black" panose="02000A03000000020004" pitchFamily="50" charset="0"/>
            </a:endParaRPr>
          </a:p>
          <a:p>
            <a:pPr marL="0" indent="0">
              <a:buNone/>
            </a:pPr>
            <a:r>
              <a:rPr lang="en-US" sz="1300" dirty="0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Мини-приложение в MAX: </a:t>
            </a:r>
            <a:r>
              <a:rPr lang="ru-RU" sz="1300" dirty="0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добавление задачи</a:t>
            </a:r>
            <a:r>
              <a:rPr lang="en-US" sz="1300" dirty="0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 вручную или по фото (OCR), приоритизация по Эйзенхауэру, отметка состояния после каждой задачи.</a:t>
            </a:r>
            <a:endParaRPr lang="en-US" sz="1500" dirty="0">
              <a:solidFill>
                <a:srgbClr val="426CC2"/>
              </a:solidFill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57200" y="2834640"/>
            <a:ext cx="402336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2926080"/>
            <a:ext cx="3749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Отличие</a:t>
            </a:r>
            <a:endParaRPr lang="en-US" sz="1500" dirty="0">
              <a:solidFill>
                <a:srgbClr val="426CC2"/>
              </a:solidFill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  <a:p>
            <a:pPr marL="0" indent="0">
              <a:buNone/>
            </a:pPr>
            <a:r>
              <a:rPr lang="en-US" sz="1300" dirty="0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Не просто планировщик, а </a:t>
            </a:r>
            <a:r>
              <a:rPr lang="ru-RU" sz="1300" dirty="0" err="1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трекер</a:t>
            </a:r>
            <a:r>
              <a:rPr lang="ru-RU" sz="1300" dirty="0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 учебного баланса и профилактики выгорания</a:t>
            </a:r>
            <a:r>
              <a:rPr lang="en-US" sz="1300" dirty="0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: индикатор благополучия и рекомендации.</a:t>
            </a:r>
            <a:endParaRPr lang="en-US" sz="1500" dirty="0">
              <a:solidFill>
                <a:srgbClr val="426CC2"/>
              </a:solidFill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663440" y="2834640"/>
            <a:ext cx="4023360" cy="1600200"/>
          </a:xfrm>
          <a:prstGeom prst="roundRect">
            <a:avLst>
              <a:gd name="adj" fmla="val 6857"/>
            </a:avLst>
          </a:prstGeom>
          <a:solidFill>
            <a:srgbClr val="D5D3FF"/>
          </a:solidFill>
          <a:ln w="12700">
            <a:solidFill>
              <a:srgbClr val="D5D3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00600" y="2926080"/>
            <a:ext cx="3749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 err="1">
                <a:solidFill>
                  <a:srgbClr val="0A1650"/>
                </a:solidFill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Эффект</a:t>
            </a:r>
            <a:endParaRPr lang="ru-RU" sz="1500" b="1" dirty="0">
              <a:solidFill>
                <a:srgbClr val="0A1650"/>
              </a:solidFill>
              <a:latin typeface="Inter Black" panose="02000A03000000020004" pitchFamily="50" charset="0"/>
              <a:ea typeface="Inter Black" panose="02000A03000000020004" pitchFamily="50" charset="0"/>
              <a:cs typeface="Inter Black" panose="02000A03000000020004" pitchFamily="50" charset="0"/>
            </a:endParaRPr>
          </a:p>
          <a:p>
            <a:r>
              <a:rPr lang="ru-RU" sz="13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Меньше пропущенных дедлайнов</a:t>
            </a:r>
          </a:p>
          <a:p>
            <a:r>
              <a:rPr lang="ru-RU" sz="13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Более регулярное планирование</a:t>
            </a:r>
            <a:endParaRPr lang="ru-RU" sz="1300" b="1" dirty="0">
              <a:solidFill>
                <a:srgbClr val="0A1650"/>
              </a:solidFill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  <a:p>
            <a:r>
              <a:rPr lang="ru-RU" sz="13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Предотвращение перегрузки</a:t>
            </a:r>
            <a:endParaRPr lang="ru-RU" sz="1300" b="1" dirty="0">
              <a:solidFill>
                <a:srgbClr val="0A1650"/>
              </a:solidFill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  <a:p>
            <a:r>
              <a:rPr lang="ru-RU" sz="13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Больше контроля над учебным процессом</a:t>
            </a:r>
            <a:endParaRPr lang="ru-RU" sz="1300" b="1" dirty="0">
              <a:solidFill>
                <a:srgbClr val="0A1650"/>
              </a:solidFill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  <a:p>
            <a:pPr marL="0" indent="0">
              <a:buNone/>
            </a:pPr>
            <a:endParaRPr lang="en-US" sz="1500" dirty="0"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DD1A0551-E3F2-46A1-B788-380890BACE6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60711" t="1778" r="22687" b="77481"/>
          <a:stretch/>
        </p:blipFill>
        <p:spPr>
          <a:xfrm>
            <a:off x="8376339" y="769620"/>
            <a:ext cx="620921" cy="701040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5ECE0B2E-FF16-45DD-9CB9-BDD75427F84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9607" t="50666" r="63389" b="31852"/>
          <a:stretch/>
        </p:blipFill>
        <p:spPr>
          <a:xfrm>
            <a:off x="177375" y="4130040"/>
            <a:ext cx="651090" cy="6049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AF2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1650"/>
                </a:solidFill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Аудитория, проблема и актуальность</a:t>
            </a:r>
            <a:endParaRPr lang="en-US" sz="2600" dirty="0">
              <a:latin typeface="Inter Black" panose="02000A03000000020004" pitchFamily="50" charset="0"/>
              <a:ea typeface="Inter Black" panose="02000A03000000020004" pitchFamily="50" charset="0"/>
              <a:cs typeface="Inter Black" panose="02000A03000000020004" pitchFamily="50" charset="0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F6BC5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Приоритет: первокурсники вузов (18–19 лет), пилот — Самарская область</a:t>
            </a:r>
            <a:endParaRPr lang="en-US" sz="1300" dirty="0"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1965960" cy="1463040"/>
          </a:xfrm>
          <a:prstGeom prst="roundRect">
            <a:avLst>
              <a:gd name="adj" fmla="val 7500"/>
            </a:avLst>
          </a:prstGeom>
          <a:solidFill>
            <a:srgbClr val="0A1650"/>
          </a:solidFill>
          <a:ln w="12700">
            <a:solidFill>
              <a:srgbClr val="0A165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71600"/>
            <a:ext cx="1783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75–85%</a:t>
            </a:r>
            <a:endParaRPr lang="en-US" sz="2800" dirty="0"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  <a:p>
            <a:pPr marL="0" indent="0" algn="ctr">
              <a:buNone/>
            </a:pPr>
            <a:r>
              <a:rPr lang="en-US" sz="1200" dirty="0">
                <a:solidFill>
                  <a:srgbClr val="D5D3FF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студентов прокрастинируют</a:t>
            </a:r>
            <a:endParaRPr lang="en-US" sz="2800" dirty="0"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2578608" y="1280160"/>
            <a:ext cx="1965960" cy="1463040"/>
          </a:xfrm>
          <a:prstGeom prst="roundRect">
            <a:avLst>
              <a:gd name="adj" fmla="val 7500"/>
            </a:avLst>
          </a:prstGeom>
          <a:solidFill>
            <a:srgbClr val="0A1650"/>
          </a:solidFill>
          <a:ln w="12700">
            <a:solidFill>
              <a:srgbClr val="0A165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670048" y="1371600"/>
            <a:ext cx="1783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27,1%</a:t>
            </a:r>
            <a:endParaRPr lang="en-US" sz="2800" dirty="0"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  <a:p>
            <a:pPr marL="0" indent="0" algn="ctr">
              <a:buNone/>
            </a:pPr>
            <a:r>
              <a:rPr lang="en-US" sz="1200" dirty="0">
                <a:solidFill>
                  <a:srgbClr val="D5D3FF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первокурсников в дистрессе</a:t>
            </a:r>
            <a:endParaRPr lang="en-US" sz="2800" dirty="0"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700016" y="1280160"/>
            <a:ext cx="1965960" cy="1463040"/>
          </a:xfrm>
          <a:prstGeom prst="roundRect">
            <a:avLst>
              <a:gd name="adj" fmla="val 7500"/>
            </a:avLst>
          </a:prstGeom>
          <a:solidFill>
            <a:srgbClr val="0A1650"/>
          </a:solidFill>
          <a:ln w="12700">
            <a:solidFill>
              <a:srgbClr val="0A165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791456" y="1371600"/>
            <a:ext cx="1783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7,3%</a:t>
            </a:r>
            <a:endParaRPr lang="en-US" sz="2800" dirty="0"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  <a:p>
            <a:pPr marL="0" indent="0" algn="ctr">
              <a:buNone/>
            </a:pPr>
            <a:r>
              <a:rPr lang="en-US" sz="1200" dirty="0">
                <a:solidFill>
                  <a:srgbClr val="D5D3FF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первокурсников с выгоранием</a:t>
            </a:r>
            <a:endParaRPr lang="en-US" sz="2800" dirty="0"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821424" y="1280160"/>
            <a:ext cx="1965960" cy="1463040"/>
          </a:xfrm>
          <a:prstGeom prst="roundRect">
            <a:avLst>
              <a:gd name="adj" fmla="val 7500"/>
            </a:avLst>
          </a:prstGeom>
          <a:solidFill>
            <a:srgbClr val="0A1650"/>
          </a:solidFill>
          <a:ln w="12700">
            <a:solidFill>
              <a:srgbClr val="0A165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912864" y="1371600"/>
            <a:ext cx="1783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60,6%</a:t>
            </a:r>
            <a:endParaRPr lang="en-US" sz="2800" dirty="0"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  <a:p>
            <a:pPr marL="0" indent="0" algn="ctr">
              <a:buNone/>
            </a:pPr>
            <a:r>
              <a:rPr lang="en-US" sz="1200" dirty="0">
                <a:solidFill>
                  <a:srgbClr val="D5D3FF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хотят снизить прокрастинацию через планирование</a:t>
            </a:r>
            <a:endParaRPr lang="en-US" sz="2800" dirty="0"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7500"/>
            </a:avLst>
          </a:prstGeom>
          <a:solidFill>
            <a:srgbClr val="D5D3FF"/>
          </a:solidFill>
          <a:ln w="12700">
            <a:solidFill>
              <a:srgbClr val="D5D3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3017520"/>
            <a:ext cx="7955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A1650"/>
                </a:solidFill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Почему это важно</a:t>
            </a:r>
            <a:endParaRPr lang="en-US" sz="1500" dirty="0">
              <a:latin typeface="Inter Black" panose="02000A03000000020004" pitchFamily="50" charset="0"/>
              <a:ea typeface="Inter Black" panose="02000A03000000020004" pitchFamily="50" charset="0"/>
              <a:cs typeface="Inter Black" panose="02000A03000000020004" pitchFamily="50" charset="0"/>
            </a:endParaRPr>
          </a:p>
          <a:p>
            <a:pPr marL="0" indent="0">
              <a:buNone/>
            </a:pPr>
            <a:r>
              <a:rPr lang="en-US" sz="13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Выгорание снижает успеваемость и ведёт к психологическим проблемам. Существующие планировщики не учитывают состояние студента. Потенциал: студенты всех курсов, СПО, старшеклассники.</a:t>
            </a:r>
            <a:endParaRPr lang="en-US" sz="1500" dirty="0"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B3977A4-4BAB-4FFD-926D-98FF4558A6A2}"/>
              </a:ext>
            </a:extLst>
          </p:cNvPr>
          <p:cNvSpPr txBox="1"/>
          <p:nvPr/>
        </p:nvSpPr>
        <p:spPr>
          <a:xfrm>
            <a:off x="457200" y="4607570"/>
            <a:ext cx="705916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100" dirty="0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*Это исследование включало 506 студентов первого курса разных направлений.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AF2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1650"/>
                </a:solidFill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Анализ конкурентов</a:t>
            </a:r>
            <a:endParaRPr lang="en-US" sz="2600" dirty="0">
              <a:latin typeface="Inter Black" panose="02000A03000000020004" pitchFamily="50" charset="0"/>
              <a:ea typeface="Inter Black" panose="02000A03000000020004" pitchFamily="50" charset="0"/>
              <a:cs typeface="Inter Black" panose="02000A03000000020004" pitchFamily="50" charset="0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F6BC5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Ключевое отличие: инструмент от выгорания с элементами тайм-менеджмента</a:t>
            </a:r>
            <a:endParaRPr lang="en-US" sz="1300" dirty="0"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8407135"/>
              </p:ext>
            </p:extLst>
          </p:nvPr>
        </p:nvGraphicFramePr>
        <p:xfrm>
          <a:off x="457200" y="1280160"/>
          <a:ext cx="8229600" cy="126492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 Medium" panose="02000603000000020004" pitchFamily="50" charset="0"/>
                          <a:ea typeface="Inter Medium" panose="02000603000000020004" pitchFamily="50" charset="0"/>
                          <a:cs typeface="Inter Medium" panose="02000603000000020004" pitchFamily="50" charset="0"/>
                        </a:rPr>
                        <a:t>Конкурент</a:t>
                      </a:r>
                      <a:endParaRPr lang="en-US" sz="1100" dirty="0">
                        <a:latin typeface="Inter Medium" panose="02000603000000020004" pitchFamily="50" charset="0"/>
                        <a:ea typeface="Inter Medium" panose="02000603000000020004" pitchFamily="50" charset="0"/>
                        <a:cs typeface="Inter Medium" panose="02000603000000020004" pitchFamily="50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 Medium" panose="02000603000000020004" pitchFamily="50" charset="0"/>
                          <a:ea typeface="Inter Medium" panose="02000603000000020004" pitchFamily="50" charset="0"/>
                          <a:cs typeface="Inter Medium" panose="02000603000000020004" pitchFamily="50" charset="0"/>
                        </a:rPr>
                        <a:t>Слабое место</a:t>
                      </a:r>
                      <a:endParaRPr lang="en-US" sz="1100" dirty="0">
                        <a:latin typeface="Inter Medium" panose="02000603000000020004" pitchFamily="50" charset="0"/>
                        <a:ea typeface="Inter Medium" panose="02000603000000020004" pitchFamily="50" charset="0"/>
                        <a:cs typeface="Inter Medium" panose="02000603000000020004" pitchFamily="50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 Medium" panose="02000603000000020004" pitchFamily="50" charset="0"/>
                          <a:ea typeface="Inter Medium" panose="02000603000000020004" pitchFamily="50" charset="0"/>
                          <a:cs typeface="Inter Medium" panose="02000603000000020004" pitchFamily="50" charset="0"/>
                        </a:rPr>
                        <a:t>Наше преимущество</a:t>
                      </a:r>
                      <a:endParaRPr lang="en-US" sz="1100" dirty="0">
                        <a:latin typeface="Inter Medium" panose="02000603000000020004" pitchFamily="50" charset="0"/>
                        <a:ea typeface="Inter Medium" panose="02000603000000020004" pitchFamily="50" charset="0"/>
                        <a:cs typeface="Inter Medium" panose="02000603000000020004" pitchFamily="50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A1650"/>
                          </a:solidFill>
                          <a:latin typeface="Inter Medium" panose="02000603000000020004" pitchFamily="50" charset="0"/>
                          <a:ea typeface="Inter Medium" panose="02000603000000020004" pitchFamily="50" charset="0"/>
                          <a:cs typeface="Inter Medium" panose="02000603000000020004" pitchFamily="50" charset="0"/>
                        </a:rPr>
                        <a:t>Агрегаторы расписания, платформы</a:t>
                      </a:r>
                      <a:endParaRPr lang="en-US" sz="1050" dirty="0">
                        <a:latin typeface="Inter Medium" panose="02000603000000020004" pitchFamily="50" charset="0"/>
                        <a:ea typeface="Inter Medium" panose="02000603000000020004" pitchFamily="50" charset="0"/>
                        <a:cs typeface="Inter Medium" panose="02000603000000020004" pitchFamily="50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A1650"/>
                          </a:solidFill>
                          <a:latin typeface="Inter Medium" panose="02000603000000020004" pitchFamily="50" charset="0"/>
                          <a:ea typeface="Inter Medium" panose="02000603000000020004" pitchFamily="50" charset="0"/>
                          <a:cs typeface="Inter Medium" panose="02000603000000020004" pitchFamily="50" charset="0"/>
                        </a:rPr>
                        <a:t>Нет фокуса на состоянии студента</a:t>
                      </a:r>
                      <a:endParaRPr lang="en-US" sz="1050" dirty="0">
                        <a:latin typeface="Inter Medium" panose="02000603000000020004" pitchFamily="50" charset="0"/>
                        <a:ea typeface="Inter Medium" panose="02000603000000020004" pitchFamily="50" charset="0"/>
                        <a:cs typeface="Inter Medium" panose="02000603000000020004" pitchFamily="50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A1650"/>
                          </a:solidFill>
                          <a:latin typeface="Inter Medium" panose="02000603000000020004" pitchFamily="50" charset="0"/>
                          <a:ea typeface="Inter Medium" panose="02000603000000020004" pitchFamily="50" charset="0"/>
                          <a:cs typeface="Inter Medium" panose="02000603000000020004" pitchFamily="50" charset="0"/>
                        </a:rPr>
                        <a:t>Решаем конкретную </a:t>
                      </a:r>
                      <a:r>
                        <a:rPr lang="en-US" sz="1050" dirty="0" err="1">
                          <a:solidFill>
                            <a:srgbClr val="0A1650"/>
                          </a:solidFill>
                          <a:latin typeface="Inter Medium" panose="02000603000000020004" pitchFamily="50" charset="0"/>
                          <a:ea typeface="Inter Medium" panose="02000603000000020004" pitchFamily="50" charset="0"/>
                          <a:cs typeface="Inter Medium" panose="02000603000000020004" pitchFamily="50" charset="0"/>
                        </a:rPr>
                        <a:t>задачу</a:t>
                      </a:r>
                      <a:r>
                        <a:rPr lang="en-US" sz="1050" dirty="0">
                          <a:solidFill>
                            <a:srgbClr val="0A1650"/>
                          </a:solidFill>
                          <a:latin typeface="Inter Medium" panose="02000603000000020004" pitchFamily="50" charset="0"/>
                          <a:ea typeface="Inter Medium" panose="02000603000000020004" pitchFamily="50" charset="0"/>
                          <a:cs typeface="Inter Medium" panose="02000603000000020004" pitchFamily="50" charset="0"/>
                        </a:rPr>
                        <a:t> </a:t>
                      </a:r>
                      <a:r>
                        <a:rPr lang="ru-RU" sz="1050" dirty="0">
                          <a:solidFill>
                            <a:srgbClr val="0A1650"/>
                          </a:solidFill>
                          <a:latin typeface="Inter Medium" panose="02000603000000020004" pitchFamily="50" charset="0"/>
                          <a:ea typeface="Inter Medium" panose="02000603000000020004" pitchFamily="50" charset="0"/>
                          <a:cs typeface="Inter Medium" panose="02000603000000020004" pitchFamily="50" charset="0"/>
                        </a:rPr>
                        <a:t>-</a:t>
                      </a:r>
                      <a:r>
                        <a:rPr lang="en-US" sz="1050" dirty="0">
                          <a:solidFill>
                            <a:srgbClr val="0A1650"/>
                          </a:solidFill>
                          <a:latin typeface="Inter Medium" panose="02000603000000020004" pitchFamily="50" charset="0"/>
                          <a:ea typeface="Inter Medium" panose="02000603000000020004" pitchFamily="50" charset="0"/>
                          <a:cs typeface="Inter Medium" panose="02000603000000020004" pitchFamily="50" charset="0"/>
                        </a:rPr>
                        <a:t> выгорание</a:t>
                      </a:r>
                      <a:endParaRPr lang="en-US" sz="1050" dirty="0">
                        <a:latin typeface="Inter Medium" panose="02000603000000020004" pitchFamily="50" charset="0"/>
                        <a:ea typeface="Inter Medium" panose="02000603000000020004" pitchFamily="50" charset="0"/>
                        <a:cs typeface="Inter Medium" panose="02000603000000020004" pitchFamily="50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A1650"/>
                          </a:solidFill>
                          <a:latin typeface="Inter Medium" panose="02000603000000020004" pitchFamily="50" charset="0"/>
                          <a:ea typeface="Inter Medium" panose="02000603000000020004" pitchFamily="50" charset="0"/>
                          <a:cs typeface="Inter Medium" panose="02000603000000020004" pitchFamily="50" charset="0"/>
                        </a:rPr>
                        <a:t>Профориентационные боты</a:t>
                      </a:r>
                      <a:endParaRPr lang="en-US" sz="1050" dirty="0">
                        <a:latin typeface="Inter Medium" panose="02000603000000020004" pitchFamily="50" charset="0"/>
                        <a:ea typeface="Inter Medium" panose="02000603000000020004" pitchFamily="50" charset="0"/>
                        <a:cs typeface="Inter Medium" panose="02000603000000020004" pitchFamily="50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A1650"/>
                          </a:solidFill>
                          <a:latin typeface="Inter Medium" panose="02000603000000020004" pitchFamily="50" charset="0"/>
                          <a:ea typeface="Inter Medium" panose="02000603000000020004" pitchFamily="50" charset="0"/>
                          <a:cs typeface="Inter Medium" panose="02000603000000020004" pitchFamily="50" charset="0"/>
                        </a:rPr>
                        <a:t>Нет связи с реальными действиями</a:t>
                      </a:r>
                      <a:endParaRPr lang="en-US" sz="1050" dirty="0">
                        <a:latin typeface="Inter Medium" panose="02000603000000020004" pitchFamily="50" charset="0"/>
                        <a:ea typeface="Inter Medium" panose="02000603000000020004" pitchFamily="50" charset="0"/>
                        <a:cs typeface="Inter Medium" panose="02000603000000020004" pitchFamily="50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A1650"/>
                          </a:solidFill>
                          <a:latin typeface="Inter Medium" panose="02000603000000020004" pitchFamily="50" charset="0"/>
                          <a:ea typeface="Inter Medium" panose="02000603000000020004" pitchFamily="50" charset="0"/>
                          <a:cs typeface="Inter Medium" panose="02000603000000020004" pitchFamily="50" charset="0"/>
                        </a:rPr>
                        <a:t>Работаем с текущими задачами и состоянием</a:t>
                      </a:r>
                      <a:endParaRPr lang="en-US" sz="1050" dirty="0">
                        <a:latin typeface="Inter Medium" panose="02000603000000020004" pitchFamily="50" charset="0"/>
                        <a:ea typeface="Inter Medium" panose="02000603000000020004" pitchFamily="50" charset="0"/>
                        <a:cs typeface="Inter Medium" panose="02000603000000020004" pitchFamily="50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A1650"/>
                          </a:solidFill>
                          <a:latin typeface="Inter Medium" panose="02000603000000020004" pitchFamily="50" charset="0"/>
                          <a:ea typeface="Inter Medium" panose="02000603000000020004" pitchFamily="50" charset="0"/>
                          <a:cs typeface="Inter Medium" panose="02000603000000020004" pitchFamily="50" charset="0"/>
                        </a:rPr>
                        <a:t>ИИ-ассистенты для учёбы</a:t>
                      </a:r>
                      <a:endParaRPr lang="en-US" sz="1050" dirty="0">
                        <a:latin typeface="Inter Medium" panose="02000603000000020004" pitchFamily="50" charset="0"/>
                        <a:ea typeface="Inter Medium" panose="02000603000000020004" pitchFamily="50" charset="0"/>
                        <a:cs typeface="Inter Medium" panose="02000603000000020004" pitchFamily="50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A1650"/>
                          </a:solidFill>
                          <a:latin typeface="Inter Medium" panose="02000603000000020004" pitchFamily="50" charset="0"/>
                          <a:ea typeface="Inter Medium" panose="02000603000000020004" pitchFamily="50" charset="0"/>
                          <a:cs typeface="Inter Medium" panose="02000603000000020004" pitchFamily="50" charset="0"/>
                        </a:rPr>
                        <a:t>ИИ «для галочки», нет измеримого эффекта</a:t>
                      </a:r>
                      <a:endParaRPr lang="en-US" sz="1050" dirty="0">
                        <a:latin typeface="Inter Medium" panose="02000603000000020004" pitchFamily="50" charset="0"/>
                        <a:ea typeface="Inter Medium" panose="02000603000000020004" pitchFamily="50" charset="0"/>
                        <a:cs typeface="Inter Medium" panose="02000603000000020004" pitchFamily="50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A1650"/>
                          </a:solidFill>
                          <a:latin typeface="Inter Medium" panose="02000603000000020004" pitchFamily="50" charset="0"/>
                          <a:ea typeface="Inter Medium" panose="02000603000000020004" pitchFamily="50" charset="0"/>
                          <a:cs typeface="Inter Medium" panose="02000603000000020004" pitchFamily="50" charset="0"/>
                        </a:rPr>
                        <a:t>OCR для быстрого добавления задач</a:t>
                      </a:r>
                      <a:endParaRPr lang="en-US" sz="1050" dirty="0">
                        <a:latin typeface="Inter Medium" panose="02000603000000020004" pitchFamily="50" charset="0"/>
                        <a:ea typeface="Inter Medium" panose="02000603000000020004" pitchFamily="50" charset="0"/>
                        <a:cs typeface="Inter Medium" panose="02000603000000020004" pitchFamily="50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A1650"/>
                          </a:solidFill>
                          <a:latin typeface="Inter Medium" panose="02000603000000020004" pitchFamily="50" charset="0"/>
                          <a:ea typeface="Inter Medium" panose="02000603000000020004" pitchFamily="50" charset="0"/>
                          <a:cs typeface="Inter Medium" panose="02000603000000020004" pitchFamily="50" charset="0"/>
                        </a:rPr>
                        <a:t>Планировщики задач</a:t>
                      </a:r>
                      <a:endParaRPr lang="en-US" sz="1050" dirty="0">
                        <a:latin typeface="Inter Medium" panose="02000603000000020004" pitchFamily="50" charset="0"/>
                        <a:ea typeface="Inter Medium" panose="02000603000000020004" pitchFamily="50" charset="0"/>
                        <a:cs typeface="Inter Medium" panose="02000603000000020004" pitchFamily="50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A1650"/>
                          </a:solidFill>
                          <a:latin typeface="Inter Medium" panose="02000603000000020004" pitchFamily="50" charset="0"/>
                          <a:ea typeface="Inter Medium" panose="02000603000000020004" pitchFamily="50" charset="0"/>
                          <a:cs typeface="Inter Medium" panose="02000603000000020004" pitchFamily="50" charset="0"/>
                        </a:rPr>
                        <a:t>Не учитывают эмоциональное состояние</a:t>
                      </a:r>
                      <a:endParaRPr lang="en-US" sz="1050" dirty="0">
                        <a:latin typeface="Inter Medium" panose="02000603000000020004" pitchFamily="50" charset="0"/>
                        <a:ea typeface="Inter Medium" panose="02000603000000020004" pitchFamily="50" charset="0"/>
                        <a:cs typeface="Inter Medium" panose="02000603000000020004" pitchFamily="50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A1650"/>
                          </a:solidFill>
                          <a:latin typeface="Inter Medium" panose="02000603000000020004" pitchFamily="50" charset="0"/>
                          <a:ea typeface="Inter Medium" panose="02000603000000020004" pitchFamily="50" charset="0"/>
                          <a:cs typeface="Inter Medium" panose="02000603000000020004" pitchFamily="50" charset="0"/>
                        </a:rPr>
                        <a:t>Планирование и трекинг настроения вместе</a:t>
                      </a:r>
                      <a:endParaRPr lang="en-US" sz="1050" dirty="0">
                        <a:latin typeface="Inter Medium" panose="02000603000000020004" pitchFamily="50" charset="0"/>
                        <a:ea typeface="Inter Medium" panose="02000603000000020004" pitchFamily="50" charset="0"/>
                        <a:cs typeface="Inter Medium" panose="02000603000000020004" pitchFamily="50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3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AF2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1650"/>
                </a:solidFill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Решение и пользовательский сценарий</a:t>
            </a:r>
            <a:endParaRPr lang="en-US" sz="2600" dirty="0">
              <a:latin typeface="Inter Black" panose="02000A03000000020004" pitchFamily="50" charset="0"/>
              <a:ea typeface="Inter Black" panose="02000A03000000020004" pitchFamily="50" charset="0"/>
              <a:cs typeface="Inter Black" panose="02000A03000000020004" pitchFamily="50" charset="0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F6BC5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Чат-бот в MAX + мини-приложение внутри него</a:t>
            </a:r>
            <a:endParaRPr lang="en-US" sz="1300" dirty="0"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606040" cy="1234440"/>
          </a:xfrm>
          <a:prstGeom prst="roundRect">
            <a:avLst>
              <a:gd name="adj" fmla="val 8889"/>
            </a:avLst>
          </a:prstGeom>
          <a:solidFill>
            <a:srgbClr val="D5D3FF"/>
          </a:solidFill>
          <a:ln w="12700">
            <a:solidFill>
              <a:srgbClr val="D5D3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46304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F6BC5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1  </a:t>
            </a:r>
            <a:r>
              <a:rPr lang="en-US" sz="13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Открывает бота в MAX</a:t>
            </a:r>
            <a:endParaRPr lang="en-US" sz="2200" dirty="0"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246120" y="1371600"/>
            <a:ext cx="26060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5D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383280" y="146304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F6BC5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2  </a:t>
            </a:r>
            <a:r>
              <a:rPr lang="en-US" sz="1300" dirty="0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Переходит в мини-приложение</a:t>
            </a:r>
            <a:endParaRPr lang="en-US" sz="2200" dirty="0">
              <a:solidFill>
                <a:srgbClr val="426CC2"/>
              </a:solidFill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035040" y="1371600"/>
            <a:ext cx="2606040" cy="1234440"/>
          </a:xfrm>
          <a:prstGeom prst="roundRect">
            <a:avLst>
              <a:gd name="adj" fmla="val 8889"/>
            </a:avLst>
          </a:prstGeom>
          <a:solidFill>
            <a:srgbClr val="D5D3FF"/>
          </a:solidFill>
          <a:ln w="12700">
            <a:solidFill>
              <a:srgbClr val="D5D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172200" y="146304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F6BC5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3  </a:t>
            </a:r>
            <a:r>
              <a:rPr lang="en-US" sz="13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Импорт по фото: OCR распознаёт задачи</a:t>
            </a:r>
            <a:endParaRPr lang="en-US" sz="2200" dirty="0"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26060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5D3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292608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F6BC5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4  </a:t>
            </a:r>
            <a:r>
              <a:rPr lang="en-US" sz="1300" dirty="0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Приоритизация по методу Эйзенхауэра</a:t>
            </a:r>
            <a:endParaRPr lang="en-US" sz="2200" dirty="0">
              <a:solidFill>
                <a:srgbClr val="426CC2"/>
              </a:solidFill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3246120" y="2834640"/>
            <a:ext cx="2606040" cy="1234440"/>
          </a:xfrm>
          <a:prstGeom prst="roundRect">
            <a:avLst>
              <a:gd name="adj" fmla="val 8889"/>
            </a:avLst>
          </a:prstGeom>
          <a:solidFill>
            <a:srgbClr val="D5D3FF"/>
          </a:solidFill>
          <a:ln w="12700">
            <a:solidFill>
              <a:srgbClr val="D5D3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383280" y="292608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F6BC5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5  </a:t>
            </a:r>
            <a:r>
              <a:rPr lang="en-US" sz="13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Выполняет задачу и </a:t>
            </a:r>
            <a:r>
              <a:rPr lang="en-US" sz="1300" dirty="0" err="1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отмечает</a:t>
            </a:r>
            <a:r>
              <a:rPr lang="en-US" sz="13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 </a:t>
            </a:r>
            <a:r>
              <a:rPr lang="en-US" sz="1300" dirty="0" err="1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состояние</a:t>
            </a:r>
            <a:endParaRPr lang="en-US" sz="2200" dirty="0"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035040" y="2834640"/>
            <a:ext cx="26060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5D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172200" y="292608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F6BC5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6  </a:t>
            </a:r>
            <a:r>
              <a:rPr lang="en-US" sz="1300" dirty="0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Индикатор баланса и рекомендация</a:t>
            </a:r>
            <a:endParaRPr lang="en-US" sz="2200" dirty="0">
              <a:solidFill>
                <a:srgbClr val="426CC2"/>
              </a:solidFill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457200" y="43434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1650"/>
                </a:solidFill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Интерфейс мини-приложения</a:t>
            </a:r>
            <a:endParaRPr lang="en-US" sz="2600" dirty="0">
              <a:latin typeface="Inter Black" panose="02000A03000000020004" pitchFamily="50" charset="0"/>
              <a:ea typeface="Inter Black" panose="02000A03000000020004" pitchFamily="50" charset="0"/>
              <a:cs typeface="Inter Black" panose="02000A03000000020004" pitchFamily="50" charset="0"/>
            </a:endParaRPr>
          </a:p>
        </p:txBody>
      </p:sp>
      <p:sp>
        <p:nvSpPr>
          <p:cNvPr id="4" name="Text 1"/>
          <p:cNvSpPr txBox="1"/>
          <p:nvPr/>
        </p:nvSpPr>
        <p:spPr>
          <a:xfrm>
            <a:off x="548640" y="45720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A1650"/>
                </a:solidFill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Главная</a:t>
            </a:r>
            <a:endParaRPr lang="en-US" sz="1200" dirty="0">
              <a:latin typeface="Inter Black" panose="02000A03000000020004" pitchFamily="50" charset="0"/>
              <a:ea typeface="Inter Black" panose="02000A03000000020004" pitchFamily="50" charset="0"/>
              <a:cs typeface="Inter Black" panose="02000A03000000020004" pitchFamily="50" charset="0"/>
            </a:endParaRPr>
          </a:p>
        </p:txBody>
      </p:sp>
      <p:sp>
        <p:nvSpPr>
          <p:cNvPr id="6" name="Text 2"/>
          <p:cNvSpPr txBox="1"/>
          <p:nvPr/>
        </p:nvSpPr>
        <p:spPr>
          <a:xfrm>
            <a:off x="2611147" y="4581924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A1650"/>
                </a:solidFill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Добавить задачу</a:t>
            </a:r>
            <a:endParaRPr lang="en-US" sz="1200" dirty="0">
              <a:latin typeface="Inter Black" panose="02000A03000000020004" pitchFamily="50" charset="0"/>
              <a:ea typeface="Inter Black" panose="02000A03000000020004" pitchFamily="50" charset="0"/>
              <a:cs typeface="Inter Black" panose="02000A03000000020004" pitchFamily="50" charset="0"/>
            </a:endParaRPr>
          </a:p>
        </p:txBody>
      </p:sp>
      <p:sp>
        <p:nvSpPr>
          <p:cNvPr id="8" name="Text 3"/>
          <p:cNvSpPr txBox="1"/>
          <p:nvPr/>
        </p:nvSpPr>
        <p:spPr>
          <a:xfrm>
            <a:off x="4754880" y="45720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A1650"/>
                </a:solidFill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Отметка состояния</a:t>
            </a:r>
            <a:endParaRPr lang="en-US" sz="1200" dirty="0">
              <a:latin typeface="Inter Black" panose="02000A03000000020004" pitchFamily="50" charset="0"/>
              <a:ea typeface="Inter Black" panose="02000A03000000020004" pitchFamily="50" charset="0"/>
              <a:cs typeface="Inter Black" panose="02000A03000000020004" pitchFamily="50" charset="0"/>
            </a:endParaRPr>
          </a:p>
        </p:txBody>
      </p:sp>
      <p:sp>
        <p:nvSpPr>
          <p:cNvPr id="10" name="Text 4"/>
          <p:cNvSpPr txBox="1"/>
          <p:nvPr/>
        </p:nvSpPr>
        <p:spPr>
          <a:xfrm>
            <a:off x="6858000" y="45720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A1650"/>
                </a:solidFill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Календарь</a:t>
            </a:r>
            <a:endParaRPr lang="en-US" sz="1200" dirty="0">
              <a:latin typeface="Inter Black" panose="02000A03000000020004" pitchFamily="50" charset="0"/>
              <a:ea typeface="Inter Black" panose="02000A03000000020004" pitchFamily="50" charset="0"/>
              <a:cs typeface="Inter Black" panose="02000A03000000020004" pitchFamily="50" charset="0"/>
            </a:endParaRP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0BB4459-7E08-4366-A55D-FEF65436B5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671" y="1005840"/>
            <a:ext cx="1702178" cy="3566160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78FDA2AF-C9CA-46E6-A728-52795FD6E1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2750" y="1005840"/>
            <a:ext cx="1708046" cy="3576086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C4860202-69FB-46A4-ACE2-79F0339F676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78754" y="1005840"/>
            <a:ext cx="1708046" cy="3576086"/>
          </a:xfrm>
          <a:prstGeom prst="rect">
            <a:avLst/>
          </a:prstGeom>
        </p:spPr>
      </p:pic>
      <p:sp>
        <p:nvSpPr>
          <p:cNvPr id="19" name="Text 2">
            <a:extLst>
              <a:ext uri="{FF2B5EF4-FFF2-40B4-BE49-F238E27FC236}">
                <a16:creationId xmlns:a16="http://schemas.microsoft.com/office/drawing/2014/main" id="{918CACB7-F9D7-4225-A5D8-BABFF84388C3}"/>
              </a:ext>
            </a:extLst>
          </p:cNvPr>
          <p:cNvSpPr txBox="1"/>
          <p:nvPr/>
        </p:nvSpPr>
        <p:spPr>
          <a:xfrm>
            <a:off x="2611147" y="4772423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</p:txBody>
      </p:sp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FAA33FB6-3A26-4393-AD94-1171C577BC4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34973" y="1004527"/>
            <a:ext cx="1699819" cy="355886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1650"/>
                </a:solidFill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Совместная подготовка и карта приключений</a:t>
            </a:r>
            <a:endParaRPr lang="en-US" sz="2600" dirty="0">
              <a:latin typeface="Inter Black" panose="02000A03000000020004" pitchFamily="50" charset="0"/>
              <a:ea typeface="Inter Black" panose="02000A03000000020004" pitchFamily="50" charset="0"/>
              <a:cs typeface="Inter Black" panose="02000A03000000020004" pitchFamily="50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017520" cy="1737360"/>
          </a:xfrm>
          <a:prstGeom prst="roundRect">
            <a:avLst>
              <a:gd name="adj" fmla="val 6316"/>
            </a:avLst>
          </a:prstGeom>
          <a:solidFill>
            <a:srgbClr val="D5D3FF"/>
          </a:solidFill>
          <a:ln w="12700">
            <a:solidFill>
              <a:srgbClr val="D5D3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80160"/>
            <a:ext cx="2743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200" dirty="0"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3063240"/>
            <a:ext cx="3017520" cy="1737360"/>
          </a:xfrm>
          <a:prstGeom prst="roundRect">
            <a:avLst>
              <a:gd name="adj" fmla="val 6316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270726"/>
            <a:ext cx="2743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0A1650"/>
                </a:solidFill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Друзья и группы</a:t>
            </a:r>
            <a:endParaRPr lang="en-US" sz="1200" dirty="0">
              <a:latin typeface="Inter Black" panose="02000A03000000020004" pitchFamily="50" charset="0"/>
              <a:ea typeface="Inter Black" panose="02000A03000000020004" pitchFamily="50" charset="0"/>
              <a:cs typeface="Inter Black" panose="02000A03000000020004" pitchFamily="50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Задачами можно делиться с друзьями. В учебных группах ставятся общие цели («прочитать 10 статей за неделю»), виден прогресс друг друга. Ощущение, что ты не один.</a:t>
            </a:r>
            <a:endParaRPr lang="en-US" sz="1200" dirty="0"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3566160" y="457200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A1650"/>
                </a:solidFill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Общие задачи</a:t>
            </a:r>
            <a:endParaRPr lang="en-US" sz="1100" dirty="0">
              <a:latin typeface="Inter Black" panose="02000A03000000020004" pitchFamily="50" charset="0"/>
              <a:ea typeface="Inter Black" panose="02000A03000000020004" pitchFamily="50" charset="0"/>
              <a:cs typeface="Inter Black" panose="02000A03000000020004" pitchFamily="50" charset="0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5259127" y="4579257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A1650"/>
                </a:solidFill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Групповые задания</a:t>
            </a:r>
            <a:endParaRPr lang="en-US" sz="1100" dirty="0">
              <a:latin typeface="Inter Black" panose="02000A03000000020004" pitchFamily="50" charset="0"/>
              <a:ea typeface="Inter Black" panose="02000A03000000020004" pitchFamily="50" charset="0"/>
              <a:cs typeface="Inter Black" panose="02000A03000000020004" pitchFamily="50" charset="0"/>
            </a:endParaRPr>
          </a:p>
        </p:txBody>
      </p:sp>
      <p:sp>
        <p:nvSpPr>
          <p:cNvPr id="12" name="Text 7"/>
          <p:cNvSpPr txBox="1"/>
          <p:nvPr/>
        </p:nvSpPr>
        <p:spPr>
          <a:xfrm>
            <a:off x="7040083" y="457200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A1650"/>
                </a:solidFill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Карта приключений</a:t>
            </a:r>
            <a:endParaRPr lang="en-US" sz="1100" dirty="0">
              <a:latin typeface="Inter Black" panose="02000A03000000020004" pitchFamily="50" charset="0"/>
              <a:ea typeface="Inter Black" panose="02000A03000000020004" pitchFamily="50" charset="0"/>
              <a:cs typeface="Inter Black" panose="02000A03000000020004" pitchFamily="50" charset="0"/>
            </a:endParaRP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2A5FBD20-10A3-438C-B7E9-EEC82AEF59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0767" y="1188720"/>
            <a:ext cx="1601793" cy="3355848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F54E9463-493B-490F-A83A-9922247ADE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7913" y="1188720"/>
            <a:ext cx="1602854" cy="3355848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4405935F-B307-4F5F-B15E-696412F4FC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5006" y="1190939"/>
            <a:ext cx="1601794" cy="3353629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6C3BE144-7BFE-40FD-8129-1583E5FABCF8}"/>
              </a:ext>
            </a:extLst>
          </p:cNvPr>
          <p:cNvSpPr txBox="1"/>
          <p:nvPr/>
        </p:nvSpPr>
        <p:spPr>
          <a:xfrm>
            <a:off x="498328" y="3121747"/>
            <a:ext cx="2880360" cy="13542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0A1650"/>
                </a:solidFill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Квест-карта</a:t>
            </a:r>
            <a:endParaRPr lang="en-US" sz="1200" dirty="0">
              <a:latin typeface="Inter Black" panose="02000A03000000020004" pitchFamily="50" charset="0"/>
              <a:ea typeface="Inter Black" panose="02000A03000000020004" pitchFamily="50" charset="0"/>
              <a:cs typeface="Inter Black" panose="02000A03000000020004" pitchFamily="50" charset="0"/>
            </a:endParaRPr>
          </a:p>
          <a:p>
            <a:pPr marL="0" indent="0">
              <a:buNone/>
            </a:pPr>
            <a:r>
              <a:rPr lang="en-US" sz="1000" dirty="0" err="1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Список</a:t>
            </a:r>
            <a:r>
              <a:rPr lang="en-US" sz="10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 </a:t>
            </a:r>
            <a:r>
              <a:rPr lang="en-US" sz="1000" dirty="0" err="1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задач</a:t>
            </a:r>
            <a:r>
              <a:rPr lang="en-US" sz="10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 </a:t>
            </a:r>
            <a:r>
              <a:rPr lang="en-US" sz="1000" dirty="0" err="1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превращается</a:t>
            </a:r>
            <a:r>
              <a:rPr lang="en-US" sz="10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 в </a:t>
            </a:r>
            <a:r>
              <a:rPr lang="en-US" sz="1000" dirty="0" err="1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карту</a:t>
            </a:r>
            <a:r>
              <a:rPr lang="en-US" sz="10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 </a:t>
            </a:r>
            <a:r>
              <a:rPr lang="en-US" sz="1000" dirty="0" err="1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приключений</a:t>
            </a:r>
            <a:r>
              <a:rPr lang="en-US" sz="10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: </a:t>
            </a:r>
            <a:r>
              <a:rPr lang="en-US" sz="1000" dirty="0" err="1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каждая</a:t>
            </a:r>
            <a:r>
              <a:rPr lang="en-US" sz="10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 </a:t>
            </a:r>
            <a:r>
              <a:rPr lang="en-US" sz="1000" dirty="0" err="1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выполне</a:t>
            </a:r>
            <a:r>
              <a:rPr lang="ru-RU" sz="10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н</a:t>
            </a:r>
            <a:r>
              <a:rPr lang="en-US" sz="1000" dirty="0" err="1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ная</a:t>
            </a:r>
            <a:r>
              <a:rPr lang="en-US" sz="10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 </a:t>
            </a:r>
            <a:r>
              <a:rPr lang="en-US" sz="1000" dirty="0" err="1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задача</a:t>
            </a:r>
            <a:r>
              <a:rPr lang="ru-RU" sz="10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 это </a:t>
            </a:r>
            <a:r>
              <a:rPr lang="en-US" sz="1000" dirty="0" err="1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шаг</a:t>
            </a:r>
            <a:r>
              <a:rPr lang="en-US" sz="10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 </a:t>
            </a:r>
            <a:r>
              <a:rPr lang="en-US" sz="1000" dirty="0" err="1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по</a:t>
            </a:r>
            <a:r>
              <a:rPr lang="en-US" sz="10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 </a:t>
            </a:r>
            <a:r>
              <a:rPr lang="en-US" sz="1000" dirty="0" err="1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сюжету</a:t>
            </a:r>
            <a:r>
              <a:rPr lang="en-US" sz="10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, </a:t>
            </a:r>
            <a:r>
              <a:rPr lang="en-US" sz="1000" dirty="0" err="1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открывающий</a:t>
            </a:r>
            <a:r>
              <a:rPr lang="en-US" sz="10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 </a:t>
            </a:r>
            <a:r>
              <a:rPr lang="en-US" sz="1000" dirty="0" err="1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новые</a:t>
            </a:r>
            <a:r>
              <a:rPr lang="en-US" sz="10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 </a:t>
            </a:r>
            <a:r>
              <a:rPr lang="en-US" sz="1000" dirty="0" err="1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локации</a:t>
            </a:r>
            <a:r>
              <a:rPr lang="en-US" sz="10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, </a:t>
            </a:r>
            <a:r>
              <a:rPr lang="en-US" sz="1000" dirty="0" err="1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персонажей</a:t>
            </a:r>
            <a:r>
              <a:rPr lang="en-US" sz="10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 и </a:t>
            </a:r>
            <a:r>
              <a:rPr lang="en-US" sz="1000" dirty="0" err="1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предметы</a:t>
            </a:r>
            <a:r>
              <a:rPr lang="en-US" sz="10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. </a:t>
            </a:r>
            <a:r>
              <a:rPr lang="en-US" sz="1000" dirty="0" err="1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Головоломки</a:t>
            </a:r>
            <a:r>
              <a:rPr lang="en-US" sz="10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 и </a:t>
            </a:r>
            <a:r>
              <a:rPr lang="en-US" sz="1000" dirty="0" err="1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коллекционные</a:t>
            </a:r>
            <a:r>
              <a:rPr lang="en-US" sz="10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 </a:t>
            </a:r>
            <a:r>
              <a:rPr lang="en-US" sz="1000" dirty="0" err="1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карточки</a:t>
            </a:r>
            <a:r>
              <a:rPr lang="en-US" sz="10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 </a:t>
            </a:r>
            <a:r>
              <a:rPr lang="en-US" sz="1000" dirty="0" err="1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делают</a:t>
            </a:r>
            <a:r>
              <a:rPr lang="en-US" sz="10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 </a:t>
            </a:r>
            <a:r>
              <a:rPr lang="en-US" sz="1000" dirty="0" err="1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подготовку</a:t>
            </a:r>
            <a:r>
              <a:rPr lang="en-US" sz="10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 к </a:t>
            </a:r>
            <a:r>
              <a:rPr lang="en-US" sz="1000" dirty="0" err="1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сессии</a:t>
            </a:r>
            <a:r>
              <a:rPr lang="en-US" sz="10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 </a:t>
            </a:r>
            <a:r>
              <a:rPr lang="en-US" sz="1000" dirty="0" err="1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исследованием</a:t>
            </a:r>
            <a:r>
              <a:rPr lang="en-US" sz="10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.</a:t>
            </a:r>
            <a:endParaRPr lang="en-US" sz="1000" dirty="0"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AF2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1650"/>
                </a:solidFill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Ожидаемый эффект</a:t>
            </a:r>
            <a:endParaRPr lang="en-US" sz="2600" dirty="0">
              <a:latin typeface="Inter Black" panose="02000A03000000020004" pitchFamily="50" charset="0"/>
              <a:ea typeface="Inter Black" panose="02000A03000000020004" pitchFamily="50" charset="0"/>
              <a:cs typeface="Inter Black" panose="02000A03000000020004" pitchFamily="50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2651760" cy="2377440"/>
          </a:xfrm>
          <a:prstGeom prst="roundRect">
            <a:avLst>
              <a:gd name="adj" fmla="val 4615"/>
            </a:avLst>
          </a:prstGeom>
          <a:solidFill>
            <a:srgbClr val="D5D3FF"/>
          </a:solidFill>
          <a:ln w="12700">
            <a:solidFill>
              <a:srgbClr val="D5D3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463040"/>
            <a:ext cx="2377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A1650"/>
                </a:solidFill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Успеваемость</a:t>
            </a:r>
            <a:endParaRPr lang="en-US" sz="1500" dirty="0">
              <a:latin typeface="Inter Black" panose="02000A03000000020004" pitchFamily="50" charset="0"/>
              <a:ea typeface="Inter Black" panose="02000A03000000020004" pitchFamily="50" charset="0"/>
              <a:cs typeface="Inter Black" panose="02000A03000000020004" pitchFamily="50" charset="0"/>
            </a:endParaRPr>
          </a:p>
          <a:p>
            <a:pPr marL="0" indent="0">
              <a:buNone/>
            </a:pPr>
            <a:r>
              <a:rPr lang="en-US" sz="13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Задачи и дедлайны под контролем, приоритеты расставлены</a:t>
            </a:r>
            <a:endParaRPr lang="en-US" sz="1500" dirty="0"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3246120" y="1371600"/>
            <a:ext cx="265176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383280" y="1463040"/>
            <a:ext cx="2377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426CC2"/>
                </a:solidFill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Дедлайны</a:t>
            </a:r>
            <a:endParaRPr lang="en-US" sz="1500" dirty="0">
              <a:solidFill>
                <a:srgbClr val="426CC2"/>
              </a:solidFill>
              <a:latin typeface="Inter Black" panose="02000A03000000020004" pitchFamily="50" charset="0"/>
              <a:ea typeface="Inter Black" panose="02000A03000000020004" pitchFamily="50" charset="0"/>
              <a:cs typeface="Inter Black" panose="02000A03000000020004" pitchFamily="50" charset="0"/>
            </a:endParaRPr>
          </a:p>
          <a:p>
            <a:pPr marL="0" indent="0">
              <a:buNone/>
            </a:pPr>
            <a:r>
              <a:rPr lang="en-US" sz="1300" dirty="0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Меньше пропущенных сроков благодаря напоминаниям</a:t>
            </a:r>
            <a:endParaRPr lang="en-US" sz="1500" dirty="0">
              <a:solidFill>
                <a:srgbClr val="426CC2"/>
              </a:solidFill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035040" y="1371600"/>
            <a:ext cx="2651760" cy="2377440"/>
          </a:xfrm>
          <a:prstGeom prst="roundRect">
            <a:avLst>
              <a:gd name="adj" fmla="val 4615"/>
            </a:avLst>
          </a:prstGeom>
          <a:solidFill>
            <a:srgbClr val="D5D3FF"/>
          </a:solidFill>
          <a:ln w="12700">
            <a:solidFill>
              <a:srgbClr val="D5D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172200" y="1463040"/>
            <a:ext cx="2377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A1650"/>
                </a:solidFill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Благополучие</a:t>
            </a:r>
            <a:endParaRPr lang="en-US" sz="1500" dirty="0">
              <a:latin typeface="Inter Black" panose="02000A03000000020004" pitchFamily="50" charset="0"/>
              <a:ea typeface="Inter Black" panose="02000A03000000020004" pitchFamily="50" charset="0"/>
              <a:cs typeface="Inter Black" panose="02000A03000000020004" pitchFamily="50" charset="0"/>
            </a:endParaRPr>
          </a:p>
          <a:p>
            <a:pPr marL="0" indent="0">
              <a:buNone/>
            </a:pPr>
            <a:r>
              <a:rPr lang="en-US" sz="13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Рост субъективного благополучия, раннее замечание перегрузки</a:t>
            </a:r>
            <a:endParaRPr lang="en-US" sz="1500" dirty="0"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457200" y="4023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F6BC5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Студент видит прогресс, понимает своё состояние и получает поддержку.</a:t>
            </a:r>
            <a:endParaRPr lang="en-US" sz="1400" dirty="0"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AF2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1650"/>
                </a:solidFill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Архитектура решения</a:t>
            </a:r>
            <a:endParaRPr lang="en-US" sz="2600" dirty="0">
              <a:latin typeface="Inter Black" panose="02000A03000000020004" pitchFamily="50" charset="0"/>
              <a:ea typeface="Inter Black" panose="02000A03000000020004" pitchFamily="50" charset="0"/>
              <a:cs typeface="Inter Black" panose="02000A03000000020004" pitchFamily="50" charset="0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282244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3F6BC5"/>
                </a:solidFill>
                <a:latin typeface="Inter Medium"/>
              </a:rPr>
              <a:t>Production: </a:t>
            </a:r>
            <a:r>
              <a:rPr lang="en-US" sz="1400" dirty="0" err="1">
                <a:solidFill>
                  <a:srgbClr val="3F6BC5"/>
                </a:solidFill>
                <a:latin typeface="Inter Medium"/>
              </a:rPr>
              <a:t>Vercel</a:t>
            </a:r>
            <a:r>
              <a:rPr lang="en-US" sz="1400" dirty="0">
                <a:solidFill>
                  <a:srgbClr val="3F6BC5"/>
                </a:solidFill>
                <a:latin typeface="Inter Medium"/>
              </a:rPr>
              <a:t> · </a:t>
            </a:r>
            <a:r>
              <a:rPr lang="ru-RU" sz="1400" dirty="0">
                <a:solidFill>
                  <a:srgbClr val="3F6BC5"/>
                </a:solidFill>
                <a:latin typeface="Inter Medium"/>
              </a:rPr>
              <a:t>локально: </a:t>
            </a:r>
            <a:r>
              <a:rPr lang="en-US" sz="1400" dirty="0">
                <a:solidFill>
                  <a:srgbClr val="3F6BC5"/>
                </a:solidFill>
                <a:latin typeface="Inter Medium"/>
              </a:rPr>
              <a:t>Docker</a:t>
            </a:r>
            <a:endParaRPr lang="en-US" dirty="0"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D5D3FF"/>
          </a:solidFill>
          <a:ln w="12700">
            <a:solidFill>
              <a:srgbClr val="D5D3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554480"/>
            <a:ext cx="1828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Студент в MAX</a:t>
            </a:r>
            <a:endParaRPr lang="en-US" sz="1200" dirty="0"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2743200" y="155448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3F6BC5"/>
          </a:solidFill>
          <a:ln w="12700">
            <a:solidFill>
              <a:srgbClr val="3F6BC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743200" y="1554480"/>
            <a:ext cx="1828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A1650"/>
                </a:solidFill>
                <a:effectLst/>
                <a:uLnTx/>
                <a:uFillTx/>
                <a:latin typeface="Inter Medium"/>
                <a:ea typeface="+mn-ea"/>
                <a:cs typeface="+mn-cs"/>
              </a:rPr>
              <a:t>MAX Bot API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0A1650"/>
                </a:solidFill>
                <a:effectLst/>
                <a:uLnTx/>
                <a:uFillTx/>
                <a:latin typeface="Inter Medium"/>
                <a:ea typeface="+mn-ea"/>
                <a:cs typeface="+mn-cs"/>
              </a:rPr>
              <a:t>Webhook / </a:t>
            </a:r>
            <a:r>
              <a:rPr kumimoji="0" lang="ru-RU" sz="900" b="1" i="0" u="none" strike="noStrike" kern="1200" cap="none" spc="0" normalizeH="0" baseline="0" noProof="0" dirty="0">
                <a:ln>
                  <a:noFill/>
                </a:ln>
                <a:solidFill>
                  <a:srgbClr val="0A1650"/>
                </a:solidFill>
                <a:effectLst/>
                <a:uLnTx/>
                <a:uFillTx/>
                <a:latin typeface="Inter Medium"/>
                <a:ea typeface="+mn-ea"/>
                <a:cs typeface="+mn-cs"/>
              </a:rPr>
              <a:t>локальный </a:t>
            </a: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0A1650"/>
                </a:solidFill>
                <a:effectLst/>
                <a:uLnTx/>
                <a:uFillTx/>
                <a:latin typeface="Inter Medium"/>
                <a:ea typeface="+mn-ea"/>
                <a:cs typeface="+mn-cs"/>
              </a:rPr>
              <a:t>polling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029200" y="155448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0A1650"/>
          </a:solidFill>
          <a:ln w="12700">
            <a:solidFill>
              <a:srgbClr val="0A165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0" y="1554480"/>
            <a:ext cx="1828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Mini App</a:t>
            </a:r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React + TypeScript</a:t>
            </a:r>
          </a:p>
        </p:txBody>
      </p:sp>
      <p:sp>
        <p:nvSpPr>
          <p:cNvPr id="10" name="Shape 8"/>
          <p:cNvSpPr/>
          <p:nvPr/>
        </p:nvSpPr>
        <p:spPr>
          <a:xfrm>
            <a:off x="7315200" y="1554480"/>
            <a:ext cx="1371600" cy="822960"/>
          </a:xfrm>
          <a:prstGeom prst="roundRect">
            <a:avLst>
              <a:gd name="adj" fmla="val 11111"/>
            </a:avLst>
          </a:prstGeom>
          <a:solidFill>
            <a:srgbClr val="3F6BC5"/>
          </a:solidFill>
          <a:ln w="12700">
            <a:solidFill>
              <a:srgbClr val="3F6BC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0" y="1554480"/>
            <a:ext cx="13716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Go REST API</a:t>
            </a:r>
          </a:p>
          <a:p>
            <a:pPr marL="0" indent="0" algn="ctr">
              <a:buNone/>
            </a:pPr>
            <a:r>
              <a:rPr lang="en-US" sz="1200" b="1" dirty="0" err="1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Vercel</a:t>
            </a:r>
            <a:r>
              <a:rPr lang="en-US" sz="1200" b="1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 Function</a:t>
            </a:r>
          </a:p>
        </p:txBody>
      </p:sp>
      <p:sp>
        <p:nvSpPr>
          <p:cNvPr id="12" name="Shape 10"/>
          <p:cNvSpPr/>
          <p:nvPr/>
        </p:nvSpPr>
        <p:spPr>
          <a:xfrm>
            <a:off x="5029200" y="310896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D5D3FF"/>
          </a:solidFill>
          <a:ln w="12700">
            <a:solidFill>
              <a:srgbClr val="D5D3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29200" y="3108960"/>
            <a:ext cx="1828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OCR API</a:t>
            </a:r>
          </a:p>
          <a:p>
            <a:pPr marL="0" indent="0" algn="ctr">
              <a:buNone/>
            </a:pPr>
            <a:r>
              <a:rPr lang="en-US" sz="1200" b="1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production </a:t>
            </a:r>
            <a:r>
              <a:rPr lang="en-US" sz="1200" b="1" dirty="0" err="1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Vercel</a:t>
            </a:r>
            <a:r>
              <a:rPr lang="en-US" sz="1200" b="1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*</a:t>
            </a:r>
          </a:p>
        </p:txBody>
      </p:sp>
      <p:sp>
        <p:nvSpPr>
          <p:cNvPr id="14" name="Shape 12"/>
          <p:cNvSpPr/>
          <p:nvPr/>
        </p:nvSpPr>
        <p:spPr>
          <a:xfrm>
            <a:off x="7315200" y="3108960"/>
            <a:ext cx="1371600" cy="822960"/>
          </a:xfrm>
          <a:prstGeom prst="roundRect">
            <a:avLst>
              <a:gd name="adj" fmla="val 11111"/>
            </a:avLst>
          </a:prstGeom>
          <a:solidFill>
            <a:srgbClr val="D5D3FF"/>
          </a:solidFill>
          <a:ln w="12700">
            <a:solidFill>
              <a:srgbClr val="D5D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0" y="3108960"/>
            <a:ext cx="13716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SQLite / Turso</a:t>
            </a:r>
          </a:p>
        </p:txBody>
      </p:sp>
      <p:sp>
        <p:nvSpPr>
          <p:cNvPr id="16" name="Shape 14"/>
          <p:cNvSpPr/>
          <p:nvPr/>
        </p:nvSpPr>
        <p:spPr>
          <a:xfrm>
            <a:off x="2743200" y="310896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D5D3FF"/>
          </a:solidFill>
          <a:ln w="12700">
            <a:solidFill>
              <a:srgbClr val="D5D3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743200" y="3108960"/>
            <a:ext cx="1828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ru-RU" sz="1050" b="1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Задачи и Эйзенхауэр</a:t>
            </a:r>
          </a:p>
          <a:p>
            <a:pPr marL="0" indent="0" algn="ctr">
              <a:buNone/>
            </a:pPr>
            <a:r>
              <a:rPr lang="ru-RU" sz="1050" b="1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настроение и напоминания</a:t>
            </a:r>
          </a:p>
        </p:txBody>
      </p:sp>
      <p:sp>
        <p:nvSpPr>
          <p:cNvPr id="18" name="Shape 16"/>
          <p:cNvSpPr/>
          <p:nvPr/>
        </p:nvSpPr>
        <p:spPr>
          <a:xfrm>
            <a:off x="2286000" y="1965960"/>
            <a:ext cx="457200" cy="0"/>
          </a:xfrm>
          <a:prstGeom prst="line">
            <a:avLst/>
          </a:prstGeom>
          <a:noFill/>
          <a:ln w="19050">
            <a:solidFill>
              <a:srgbClr val="0A1650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572000" y="1965960"/>
            <a:ext cx="457200" cy="0"/>
          </a:xfrm>
          <a:prstGeom prst="line">
            <a:avLst/>
          </a:prstGeom>
          <a:noFill/>
          <a:ln w="19050">
            <a:solidFill>
              <a:srgbClr val="0A1650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6858000" y="1965960"/>
            <a:ext cx="457200" cy="0"/>
          </a:xfrm>
          <a:prstGeom prst="line">
            <a:avLst/>
          </a:prstGeom>
          <a:noFill/>
          <a:ln w="19050">
            <a:solidFill>
              <a:srgbClr val="0A1650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8001000" y="2377440"/>
            <a:ext cx="0" cy="731520"/>
          </a:xfrm>
          <a:prstGeom prst="line">
            <a:avLst/>
          </a:prstGeom>
          <a:noFill/>
          <a:ln w="19050">
            <a:solidFill>
              <a:srgbClr val="0A1650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 flipH="1">
            <a:off x="6858000" y="3520440"/>
            <a:ext cx="457200" cy="0"/>
          </a:xfrm>
          <a:prstGeom prst="line">
            <a:avLst/>
          </a:prstGeom>
          <a:noFill/>
          <a:ln w="19050">
            <a:solidFill>
              <a:srgbClr val="0A1650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 flipH="1">
            <a:off x="4572000" y="3520440"/>
            <a:ext cx="457200" cy="0"/>
          </a:xfrm>
          <a:prstGeom prst="line">
            <a:avLst/>
          </a:prstGeom>
          <a:noFill/>
          <a:ln w="19050">
            <a:solidFill>
              <a:srgbClr val="0A1650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AF2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1650"/>
                </a:solidFill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Данные и интеграции</a:t>
            </a:r>
            <a:endParaRPr lang="en-US" sz="2600" dirty="0">
              <a:latin typeface="Inter Black" panose="02000A03000000020004" pitchFamily="50" charset="0"/>
              <a:ea typeface="Inter Black" panose="02000A03000000020004" pitchFamily="50" charset="0"/>
              <a:cs typeface="Inter Black" panose="02000A03000000020004" pitchFamily="50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023360" cy="3108960"/>
          </a:xfrm>
          <a:prstGeom prst="roundRect">
            <a:avLst>
              <a:gd name="adj" fmla="val 3529"/>
            </a:avLst>
          </a:prstGeom>
          <a:solidFill>
            <a:srgbClr val="D5D3FF"/>
          </a:solidFill>
          <a:ln w="12700">
            <a:solidFill>
              <a:srgbClr val="D5D3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80160"/>
            <a:ext cx="3749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A1650"/>
                </a:solidFill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Данные</a:t>
            </a:r>
            <a:endParaRPr lang="en-US" sz="1500" dirty="0">
              <a:latin typeface="Inter Black" panose="02000A03000000020004" pitchFamily="50" charset="0"/>
              <a:ea typeface="Inter Black" panose="02000A03000000020004" pitchFamily="50" charset="0"/>
              <a:cs typeface="Inter Black" panose="02000A03000000020004" pitchFamily="50" charset="0"/>
            </a:endParaRPr>
          </a:p>
          <a:p>
            <a:pPr marL="0" indent="0">
              <a:buNone/>
            </a:pPr>
            <a:r>
              <a:rPr lang="ru-RU" sz="13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• MAX ID, имя и согласия</a:t>
            </a:r>
          </a:p>
          <a:p>
            <a:pPr marL="0" indent="0">
              <a:buNone/>
            </a:pPr>
            <a:r>
              <a:rPr lang="ru-RU" sz="13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• Задачи, сроки и приоритеты</a:t>
            </a:r>
          </a:p>
          <a:p>
            <a:pPr marL="0" indent="0">
              <a:buNone/>
            </a:pPr>
            <a:r>
              <a:rPr lang="ru-RU" sz="13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• Отметки настроения и заметки</a:t>
            </a:r>
          </a:p>
          <a:p>
            <a:pPr marL="0" indent="0">
              <a:buNone/>
            </a:pPr>
            <a:r>
              <a:rPr lang="ru-RU" sz="13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• Фото для OCR; сохранение после проверки</a:t>
            </a:r>
          </a:p>
          <a:p>
            <a:pPr marL="0" indent="0">
              <a:buNone/>
            </a:pPr>
            <a:r>
              <a:rPr lang="ru-RU" sz="13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• Групповые задачи — только после </a:t>
            </a:r>
            <a:r>
              <a:rPr lang="ru-RU" sz="1300" dirty="0" err="1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opt-in</a:t>
            </a:r>
            <a:endParaRPr lang="ru-RU" sz="1300" dirty="0">
              <a:solidFill>
                <a:srgbClr val="0A1650"/>
              </a:solidFill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663440" y="1188720"/>
            <a:ext cx="4023360" cy="3108960"/>
          </a:xfrm>
          <a:prstGeom prst="roundRect">
            <a:avLst>
              <a:gd name="adj" fmla="val 3529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800600" y="1280160"/>
            <a:ext cx="3749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426CC2"/>
                </a:solidFill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Интеграции</a:t>
            </a:r>
            <a:endParaRPr lang="en-US" sz="1500" dirty="0">
              <a:solidFill>
                <a:srgbClr val="426CC2"/>
              </a:solidFill>
              <a:latin typeface="Inter Black" panose="02000A03000000020004" pitchFamily="50" charset="0"/>
              <a:ea typeface="Inter Black" panose="02000A03000000020004" pitchFamily="50" charset="0"/>
              <a:cs typeface="Inter Black" panose="02000A03000000020004" pitchFamily="50" charset="0"/>
            </a:endParaRPr>
          </a:p>
          <a:p>
            <a:pPr marL="0" indent="0">
              <a:buNone/>
            </a:pPr>
            <a:r>
              <a:rPr lang="en-US" sz="1300" dirty="0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• MAX Bot API </a:t>
            </a:r>
            <a:r>
              <a:rPr lang="ru-RU" sz="1300" dirty="0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и </a:t>
            </a:r>
            <a:r>
              <a:rPr lang="en-US" sz="1300" dirty="0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Mini App </a:t>
            </a:r>
            <a:r>
              <a:rPr lang="en-US" sz="1300" dirty="0" err="1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initData</a:t>
            </a:r>
            <a:endParaRPr lang="en-US" sz="1300" dirty="0">
              <a:solidFill>
                <a:srgbClr val="426CC2"/>
              </a:solidFill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  <a:p>
            <a:pPr marL="0" indent="0">
              <a:buNone/>
            </a:pPr>
            <a:r>
              <a:rPr lang="en-US" sz="1300" dirty="0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• Go API, webhook </a:t>
            </a:r>
            <a:r>
              <a:rPr lang="ru-RU" sz="1300" dirty="0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и </a:t>
            </a:r>
            <a:r>
              <a:rPr lang="en-US" sz="1300" dirty="0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Cron </a:t>
            </a:r>
            <a:r>
              <a:rPr lang="ru-RU" sz="1300" dirty="0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в </a:t>
            </a:r>
            <a:r>
              <a:rPr lang="en-US" sz="1300" dirty="0" err="1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Vercel</a:t>
            </a:r>
            <a:endParaRPr lang="en-US" sz="1300" dirty="0">
              <a:solidFill>
                <a:srgbClr val="426CC2"/>
              </a:solidFill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  <a:p>
            <a:pPr marL="0" indent="0">
              <a:buNone/>
            </a:pPr>
            <a:r>
              <a:rPr lang="en-US" sz="1300" dirty="0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• OCR API </a:t>
            </a:r>
            <a:r>
              <a:rPr lang="ru-RU" sz="1300" dirty="0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в </a:t>
            </a:r>
            <a:r>
              <a:rPr lang="en-US" sz="1300" dirty="0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production </a:t>
            </a:r>
            <a:r>
              <a:rPr lang="en-US" sz="1300" dirty="0" err="1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Vercel</a:t>
            </a:r>
            <a:r>
              <a:rPr lang="en-US" sz="1300" dirty="0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 (</a:t>
            </a:r>
            <a:r>
              <a:rPr lang="ru-RU" sz="1300" dirty="0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по настройке команды)</a:t>
            </a:r>
          </a:p>
          <a:p>
            <a:pPr marL="0" indent="0">
              <a:buNone/>
            </a:pPr>
            <a:r>
              <a:rPr lang="ru-RU" sz="1300" dirty="0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• </a:t>
            </a:r>
            <a:r>
              <a:rPr lang="en-US" sz="1300" dirty="0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SQLite </a:t>
            </a:r>
            <a:r>
              <a:rPr lang="ru-RU" sz="1300" dirty="0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локально; </a:t>
            </a:r>
            <a:r>
              <a:rPr lang="en-US" sz="1300" dirty="0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Turso </a:t>
            </a:r>
            <a:r>
              <a:rPr lang="ru-RU" sz="1300" dirty="0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при заданных </a:t>
            </a:r>
            <a:r>
              <a:rPr lang="en-US" sz="1300" dirty="0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credentials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• Yandex </a:t>
            </a:r>
            <a:r>
              <a:rPr lang="en-US" sz="1300" dirty="0" err="1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SpeechKit</a:t>
            </a:r>
            <a:r>
              <a:rPr lang="en-US" sz="1300" dirty="0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 — </a:t>
            </a:r>
            <a:r>
              <a:rPr lang="ru-RU" sz="1300" dirty="0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опционально для голоса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AF2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1650"/>
                </a:solidFill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Ограничения, риски и допущения</a:t>
            </a:r>
            <a:endParaRPr lang="en-US" sz="2600" dirty="0">
              <a:latin typeface="Inter Black" panose="02000A03000000020004" pitchFamily="50" charset="0"/>
              <a:ea typeface="Inter Black" panose="02000A03000000020004" pitchFamily="50" charset="0"/>
              <a:cs typeface="Inter Black" panose="02000A03000000020004" pitchFamily="50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651760" cy="3108960"/>
          </a:xfrm>
          <a:prstGeom prst="roundRect">
            <a:avLst>
              <a:gd name="adj" fmla="val 4138"/>
            </a:avLst>
          </a:prstGeom>
          <a:solidFill>
            <a:srgbClr val="D5D3FF"/>
          </a:solidFill>
          <a:ln w="12700">
            <a:solidFill>
              <a:srgbClr val="D5D3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80160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1650"/>
                </a:solidFill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Ограничения</a:t>
            </a:r>
            <a:endParaRPr lang="en-US" sz="1400" dirty="0">
              <a:latin typeface="Inter Black" panose="02000A03000000020004" pitchFamily="50" charset="0"/>
              <a:ea typeface="Inter Black" panose="02000A03000000020004" pitchFamily="50" charset="0"/>
              <a:cs typeface="Inter Black" panose="02000A03000000020004" pitchFamily="50" charset="0"/>
            </a:endParaRPr>
          </a:p>
          <a:p>
            <a:pPr marL="0" indent="0">
              <a:buNone/>
            </a:pPr>
            <a:r>
              <a:rPr lang="ru-RU" sz="12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• Пилот ориентирован на первокурсников</a:t>
            </a:r>
          </a:p>
          <a:p>
            <a:pPr marL="0" indent="0">
              <a:buNone/>
            </a:pPr>
            <a:r>
              <a:rPr lang="ru-RU" sz="12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• Подсказки статические, не заменяют психолога</a:t>
            </a:r>
          </a:p>
          <a:p>
            <a:pPr marL="0" indent="0">
              <a:buNone/>
            </a:pPr>
            <a:r>
              <a:rPr lang="ru-RU" sz="12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• Репозиторий отстаёт от заявленного </a:t>
            </a:r>
            <a:r>
              <a:rPr lang="ru-RU" sz="1200" dirty="0" err="1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production</a:t>
            </a:r>
            <a:r>
              <a:rPr lang="ru-RU" sz="12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 OCR: синхронизировать обработчик перед сдачей</a:t>
            </a:r>
          </a:p>
        </p:txBody>
      </p:sp>
      <p:sp>
        <p:nvSpPr>
          <p:cNvPr id="5" name="Shape 3"/>
          <p:cNvSpPr/>
          <p:nvPr/>
        </p:nvSpPr>
        <p:spPr>
          <a:xfrm>
            <a:off x="3246120" y="1188720"/>
            <a:ext cx="2651760" cy="3108960"/>
          </a:xfrm>
          <a:prstGeom prst="roundRect">
            <a:avLst>
              <a:gd name="adj" fmla="val 4138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383280" y="1280160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426CC2"/>
                </a:solidFill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Риски</a:t>
            </a:r>
            <a:endParaRPr lang="en-US" sz="1400" dirty="0">
              <a:solidFill>
                <a:srgbClr val="426CC2"/>
              </a:solidFill>
              <a:latin typeface="Inter Black" panose="02000A03000000020004" pitchFamily="50" charset="0"/>
              <a:ea typeface="Inter Black" panose="02000A03000000020004" pitchFamily="50" charset="0"/>
              <a:cs typeface="Inter Black" panose="02000A03000000020004" pitchFamily="50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• </a:t>
            </a:r>
            <a:r>
              <a:rPr lang="ru-RU" sz="1200" dirty="0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Пользователь может перестать отмечать состояние</a:t>
            </a:r>
            <a:endParaRPr lang="en-US" sz="1400" dirty="0">
              <a:solidFill>
                <a:srgbClr val="426CC2"/>
              </a:solidFill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• OCR </a:t>
            </a:r>
            <a:r>
              <a:rPr lang="ru-RU" sz="1200" dirty="0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может ошибаться</a:t>
            </a:r>
            <a:endParaRPr lang="en-US" sz="1400" dirty="0">
              <a:solidFill>
                <a:srgbClr val="426CC2"/>
              </a:solidFill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• </a:t>
            </a:r>
            <a:r>
              <a:rPr lang="ru-RU" sz="1200" dirty="0">
                <a:solidFill>
                  <a:srgbClr val="426CC2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Напоминания могут раздражать</a:t>
            </a:r>
            <a:endParaRPr lang="en-US" sz="1400" dirty="0">
              <a:solidFill>
                <a:srgbClr val="426CC2"/>
              </a:solidFill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035040" y="1188720"/>
            <a:ext cx="2651760" cy="3108960"/>
          </a:xfrm>
          <a:prstGeom prst="roundRect">
            <a:avLst>
              <a:gd name="adj" fmla="val 4138"/>
            </a:avLst>
          </a:prstGeom>
          <a:solidFill>
            <a:srgbClr val="D5D3FF"/>
          </a:solidFill>
          <a:ln w="12700">
            <a:solidFill>
              <a:srgbClr val="D5D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172200" y="1280160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1650"/>
                </a:solidFill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Допущения</a:t>
            </a:r>
            <a:endParaRPr lang="en-US" sz="1400" dirty="0">
              <a:latin typeface="Inter Black" panose="02000A03000000020004" pitchFamily="50" charset="0"/>
              <a:ea typeface="Inter Black" panose="02000A03000000020004" pitchFamily="50" charset="0"/>
              <a:cs typeface="Inter Black" panose="02000A03000000020004" pitchFamily="50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• Студенты активно используют MAX</a:t>
            </a:r>
            <a:endParaRPr lang="en-US" sz="1400" dirty="0"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• Отметка состояния занимает секунды</a:t>
            </a:r>
            <a:endParaRPr lang="en-US" sz="1400" dirty="0"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0A1650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rPr>
              <a:t>• Баланс помогает замечать перегрузку</a:t>
            </a:r>
            <a:endParaRPr lang="en-US" sz="1400" dirty="0">
              <a:latin typeface="Inter Medium" panose="02000603000000020004" pitchFamily="50" charset="0"/>
              <a:ea typeface="Inter Medium" panose="02000603000000020004" pitchFamily="50" charset="0"/>
              <a:cs typeface="Inter Medium" panose="02000603000000020004" pitchFamily="50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</TotalTime>
  <Words>818</Words>
  <Application>Microsoft Office PowerPoint</Application>
  <PresentationFormat>Экран (16:9)</PresentationFormat>
  <Paragraphs>159</Paragraphs>
  <Slides>13</Slides>
  <Notes>11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7" baseType="lpstr">
      <vt:lpstr>Arial</vt:lpstr>
      <vt:lpstr>Inter Black</vt:lpstr>
      <vt:lpstr>Inter Medium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WOLIF</cp:lastModifiedBy>
  <cp:revision>4</cp:revision>
  <dcterms:created xsi:type="dcterms:W3CDTF">2026-09-29T17:40:34Z</dcterms:created>
  <dcterms:modified xsi:type="dcterms:W3CDTF">2026-09-29T23:18:14Z</dcterms:modified>
</cp:coreProperties>
</file>